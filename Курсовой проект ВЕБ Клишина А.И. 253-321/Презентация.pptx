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26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Gilroy Bold" panose="00000800000000000000" charset="-52"/>
      <p:bold r:id="rId18"/>
    </p:embeddedFont>
    <p:embeddedFont>
      <p:font typeface="Gilroy Medium" panose="00000600000000000000" charset="-52"/>
      <p:regular r:id="rId19"/>
    </p:embeddedFont>
    <p:embeddedFont>
      <p:font typeface="Lucida Sans Unicode" panose="020B0602030504020204" pitchFamily="34" charset="0"/>
      <p:regular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7EA"/>
    <a:srgbClr val="F3D3D8"/>
    <a:srgbClr val="E1909D"/>
    <a:srgbClr val="CB3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-114300" y="6237515"/>
            <a:ext cx="5388429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090" y="5486066"/>
            <a:ext cx="6887816" cy="194156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11" name="Прямая соединительная линия 10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67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29"/>
            <a:ext cx="10281557" cy="36412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20.05.2026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137322" y="5706836"/>
            <a:ext cx="1787979" cy="1065207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9600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3035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050234" y="5526541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20.05.2026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30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20.05.2026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4568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20.05.2026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16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20.05.2026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96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20.05.2026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459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20.05.2026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4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0550" y="1073868"/>
            <a:ext cx="11049048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D42328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76243"/>
          </a:xfrm>
          <a:custGeom>
            <a:avLst/>
            <a:gdLst/>
            <a:ahLst/>
            <a:cxnLst/>
            <a:rect l="l" t="t" r="r" b="b"/>
            <a:pathLst>
              <a:path w="20104100" h="125730">
                <a:moveTo>
                  <a:pt x="0" y="0"/>
                </a:moveTo>
                <a:lnTo>
                  <a:pt x="20104101" y="0"/>
                </a:lnTo>
                <a:lnTo>
                  <a:pt x="20104101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21F1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80" b="0" i="0">
                <a:solidFill>
                  <a:srgbClr val="E41F2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7140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64928" y="5385718"/>
            <a:ext cx="1787978" cy="127204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30"/>
            <a:ext cx="10281557" cy="3510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20.05.2026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-57750" y="6286500"/>
            <a:ext cx="9612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 userDrawn="1"/>
        </p:nvCxnSpPr>
        <p:spPr>
          <a:xfrm>
            <a:off x="-57750" y="6286500"/>
            <a:ext cx="9612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588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bject 3">
            <a:extLst>
              <a:ext uri="{FF2B5EF4-FFF2-40B4-BE49-F238E27FC236}">
                <a16:creationId xmlns:a16="http://schemas.microsoft.com/office/drawing/2014/main" id="{3D61D34A-3343-48E7-B3BE-6D7E47350774}"/>
              </a:ext>
            </a:extLst>
          </p:cNvPr>
          <p:cNvSpPr txBox="1">
            <a:spLocks/>
          </p:cNvSpPr>
          <p:nvPr/>
        </p:nvSpPr>
        <p:spPr>
          <a:xfrm>
            <a:off x="914400" y="2058120"/>
            <a:ext cx="9114093" cy="668371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Gilroy Bold" panose="00000800000000000000" pitchFamily="2" charset="-52"/>
                <a:ea typeface="+mj-ea"/>
                <a:cs typeface="+mj-cs"/>
              </a:defRPr>
            </a:lvl1pPr>
          </a:lstStyle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lang="ru-RU" sz="4275" spc="309">
                <a:solidFill>
                  <a:srgbClr val="E21F1C"/>
                </a:solidFill>
              </a:rPr>
              <a:t>ГЕНЕРАТОР</a:t>
            </a:r>
            <a:r>
              <a:rPr lang="ru-RU" sz="4275" spc="218">
                <a:solidFill>
                  <a:srgbClr val="E21F1C"/>
                </a:solidFill>
              </a:rPr>
              <a:t> </a:t>
            </a:r>
            <a:r>
              <a:rPr lang="ru-RU" sz="4275" spc="346">
                <a:solidFill>
                  <a:srgbClr val="E21D24"/>
                </a:solidFill>
              </a:rPr>
              <a:t>ПЕРСОНАЖЕЙ</a:t>
            </a:r>
            <a:r>
              <a:rPr lang="ru-RU" sz="4275" spc="143">
                <a:solidFill>
                  <a:srgbClr val="E21D24"/>
                </a:solidFill>
              </a:rPr>
              <a:t> </a:t>
            </a:r>
            <a:r>
              <a:rPr lang="en-US" sz="4275" spc="303">
                <a:solidFill>
                  <a:srgbClr val="DB2126"/>
                </a:solidFill>
              </a:rPr>
              <a:t>RPG</a:t>
            </a:r>
            <a:endParaRPr lang="en-US" sz="4275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956E71B0-1590-43B9-8448-897C06A2D60C}"/>
              </a:ext>
            </a:extLst>
          </p:cNvPr>
          <p:cNvSpPr txBox="1"/>
          <p:nvPr/>
        </p:nvSpPr>
        <p:spPr>
          <a:xfrm>
            <a:off x="914400" y="3002865"/>
            <a:ext cx="10302403" cy="62595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indent="5006">
              <a:lnSpc>
                <a:spcPct val="126000"/>
              </a:lnSpc>
              <a:spcBef>
                <a:spcPts val="58"/>
              </a:spcBef>
            </a:pPr>
            <a:r>
              <a:rPr sz="1637" spc="-39" dirty="0">
                <a:solidFill>
                  <a:srgbClr val="3F3F3F"/>
                </a:solidFill>
                <a:latin typeface="Lucida Sans Unicode"/>
                <a:cs typeface="Lucida Sans Unicode"/>
              </a:rPr>
              <a:t>Приложение</a:t>
            </a:r>
            <a:r>
              <a:rPr sz="1637" spc="-88" dirty="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sz="1637" spc="-33" dirty="0">
                <a:solidFill>
                  <a:srgbClr val="3A3A3A"/>
                </a:solidFill>
                <a:latin typeface="Lucida Sans Unicode"/>
                <a:cs typeface="Lucida Sans Unicode"/>
              </a:rPr>
              <a:t>помогает</a:t>
            </a:r>
            <a:r>
              <a:rPr sz="1637" spc="30" dirty="0">
                <a:solidFill>
                  <a:srgbClr val="3A3A3A"/>
                </a:solidFill>
                <a:latin typeface="Lucida Sans Unicode"/>
                <a:cs typeface="Lucida Sans Unicode"/>
              </a:rPr>
              <a:t> </a:t>
            </a:r>
            <a:r>
              <a:rPr sz="1637" spc="-18" dirty="0">
                <a:solidFill>
                  <a:srgbClr val="2F2F2F"/>
                </a:solidFill>
                <a:latin typeface="Lucida Sans Unicode"/>
                <a:cs typeface="Lucida Sans Unicode"/>
              </a:rPr>
              <a:t>людям</a:t>
            </a:r>
            <a:r>
              <a:rPr sz="1637" spc="-143" dirty="0">
                <a:solidFill>
                  <a:srgbClr val="2F2F2F"/>
                </a:solidFill>
                <a:latin typeface="Lucida Sans Unicode"/>
                <a:cs typeface="Lucida Sans Unicode"/>
              </a:rPr>
              <a:t> </a:t>
            </a:r>
            <a:r>
              <a:rPr sz="1637" spc="-27" dirty="0">
                <a:solidFill>
                  <a:srgbClr val="383838"/>
                </a:solidFill>
                <a:latin typeface="Lucida Sans Unicode"/>
                <a:cs typeface="Lucida Sans Unicode"/>
              </a:rPr>
              <a:t>быстро</a:t>
            </a:r>
            <a:r>
              <a:rPr sz="1637" dirty="0">
                <a:solidFill>
                  <a:srgbClr val="383838"/>
                </a:solidFill>
                <a:latin typeface="Lucida Sans Unicode"/>
                <a:cs typeface="Lucida Sans Unicode"/>
              </a:rPr>
              <a:t> </a:t>
            </a:r>
            <a:r>
              <a:rPr sz="1637" dirty="0">
                <a:solidFill>
                  <a:srgbClr val="3B3B3B"/>
                </a:solidFill>
                <a:latin typeface="Lucida Sans Unicode"/>
                <a:cs typeface="Lucida Sans Unicode"/>
              </a:rPr>
              <a:t>создавать</a:t>
            </a:r>
            <a:r>
              <a:rPr sz="1637" spc="-58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1637" spc="-58" dirty="0">
                <a:solidFill>
                  <a:srgbClr val="3D3D3D"/>
                </a:solidFill>
                <a:latin typeface="Lucida Sans Unicode"/>
                <a:cs typeface="Lucida Sans Unicode"/>
              </a:rPr>
              <a:t>RPG-</a:t>
            </a:r>
            <a:r>
              <a:rPr sz="1637" spc="-55" dirty="0">
                <a:solidFill>
                  <a:srgbClr val="3D3D3D"/>
                </a:solidFill>
                <a:latin typeface="Lucida Sans Unicode"/>
                <a:cs typeface="Lucida Sans Unicode"/>
              </a:rPr>
              <a:t>персонажей,</a:t>
            </a:r>
            <a:r>
              <a:rPr sz="1637" spc="-224" dirty="0">
                <a:solidFill>
                  <a:srgbClr val="3D3D3D"/>
                </a:solidFill>
                <a:latin typeface="Lucida Sans Unicode"/>
                <a:cs typeface="Lucida Sans Unicode"/>
              </a:rPr>
              <a:t> </a:t>
            </a:r>
            <a:r>
              <a:rPr sz="1637" dirty="0">
                <a:solidFill>
                  <a:srgbClr val="363636"/>
                </a:solidFill>
                <a:latin typeface="Lucida Sans Unicode"/>
                <a:cs typeface="Lucida Sans Unicode"/>
              </a:rPr>
              <a:t>снижая</a:t>
            </a:r>
            <a:r>
              <a:rPr sz="1637" spc="-139" dirty="0">
                <a:solidFill>
                  <a:srgbClr val="363636"/>
                </a:solidFill>
                <a:latin typeface="Lucida Sans Unicode"/>
                <a:cs typeface="Lucida Sans Unicode"/>
              </a:rPr>
              <a:t> </a:t>
            </a:r>
            <a:r>
              <a:rPr sz="1637" spc="-79" dirty="0">
                <a:solidFill>
                  <a:srgbClr val="363636"/>
                </a:solidFill>
                <a:latin typeface="Lucida Sans Unicode"/>
                <a:cs typeface="Lucida Sans Unicode"/>
              </a:rPr>
              <a:t>рути</a:t>
            </a:r>
            <a:r>
              <a:rPr sz="1637" spc="-79" dirty="0">
                <a:solidFill>
                  <a:srgbClr val="424242"/>
                </a:solidFill>
                <a:latin typeface="Lucida Sans Unicode"/>
                <a:cs typeface="Lucida Sans Unicode"/>
              </a:rPr>
              <a:t>ну</a:t>
            </a:r>
            <a:r>
              <a:rPr sz="1637" spc="-158" dirty="0">
                <a:solidFill>
                  <a:srgbClr val="424242"/>
                </a:solidFill>
                <a:latin typeface="Lucida Sans Unicode"/>
                <a:cs typeface="Lucida Sans Unicode"/>
              </a:rPr>
              <a:t> </a:t>
            </a:r>
            <a:r>
              <a:rPr sz="1637" spc="-24" dirty="0">
                <a:solidFill>
                  <a:srgbClr val="464646"/>
                </a:solidFill>
                <a:latin typeface="Lucida Sans Unicode"/>
                <a:cs typeface="Lucida Sans Unicode"/>
              </a:rPr>
              <a:t>и</a:t>
            </a:r>
            <a:r>
              <a:rPr sz="1637" spc="-176" dirty="0">
                <a:solidFill>
                  <a:srgbClr val="464646"/>
                </a:solidFill>
                <a:latin typeface="Lucida Sans Unicode"/>
                <a:cs typeface="Lucida Sans Unicode"/>
              </a:rPr>
              <a:t> </a:t>
            </a:r>
            <a:r>
              <a:rPr sz="1637" dirty="0">
                <a:solidFill>
                  <a:srgbClr val="414141"/>
                </a:solidFill>
                <a:latin typeface="Lucida Sans Unicode"/>
                <a:cs typeface="Lucida Sans Unicode"/>
              </a:rPr>
              <a:t>время</a:t>
            </a:r>
            <a:r>
              <a:rPr sz="1637" spc="-127" dirty="0">
                <a:solidFill>
                  <a:srgbClr val="414141"/>
                </a:solidFill>
                <a:latin typeface="Lucida Sans Unicode"/>
                <a:cs typeface="Lucida Sans Unicode"/>
              </a:rPr>
              <a:t> </a:t>
            </a:r>
            <a:r>
              <a:rPr sz="1637" spc="-49" dirty="0">
                <a:solidFill>
                  <a:srgbClr val="3F3F3F"/>
                </a:solidFill>
                <a:latin typeface="Lucida Sans Unicode"/>
                <a:cs typeface="Lucida Sans Unicode"/>
              </a:rPr>
              <a:t>организации </a:t>
            </a:r>
            <a:r>
              <a:rPr sz="1637" spc="-69" dirty="0">
                <a:solidFill>
                  <a:srgbClr val="3D3D3D"/>
                </a:solidFill>
                <a:latin typeface="Lucida Sans Unicode"/>
                <a:cs typeface="Lucida Sans Unicode"/>
              </a:rPr>
              <a:t>игрового</a:t>
            </a:r>
            <a:r>
              <a:rPr sz="1637" spc="-49" dirty="0">
                <a:solidFill>
                  <a:srgbClr val="3D3D3D"/>
                </a:solidFill>
                <a:latin typeface="Lucida Sans Unicode"/>
                <a:cs typeface="Lucida Sans Unicode"/>
              </a:rPr>
              <a:t> </a:t>
            </a:r>
            <a:r>
              <a:rPr sz="1637" spc="-6" dirty="0">
                <a:solidFill>
                  <a:srgbClr val="3D3D3D"/>
                </a:solidFill>
                <a:latin typeface="Lucida Sans Unicode"/>
                <a:cs typeface="Lucida Sans Unicode"/>
              </a:rPr>
              <a:t>процесса.</a:t>
            </a:r>
            <a:endParaRPr sz="1637" dirty="0">
              <a:latin typeface="Lucida Sans Unicode"/>
              <a:cs typeface="Lucida Sans Unicode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85F6DE4-A303-459B-ADDC-8415DD191F86}"/>
              </a:ext>
            </a:extLst>
          </p:cNvPr>
          <p:cNvSpPr txBox="1"/>
          <p:nvPr/>
        </p:nvSpPr>
        <p:spPr>
          <a:xfrm>
            <a:off x="914400" y="3905194"/>
            <a:ext cx="4230704" cy="184734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10782">
              <a:spcBef>
                <a:spcPts val="76"/>
              </a:spcBef>
            </a:pPr>
            <a:r>
              <a:rPr sz="1546" dirty="0" err="1">
                <a:solidFill>
                  <a:srgbClr val="3D3D3D"/>
                </a:solidFill>
                <a:latin typeface="Lucida Sans Unicode"/>
                <a:cs typeface="Lucida Sans Unicode"/>
              </a:rPr>
              <a:t>Выполн</a:t>
            </a:r>
            <a:r>
              <a:rPr lang="ru-RU" sz="1546" dirty="0">
                <a:solidFill>
                  <a:srgbClr val="3D3D3D"/>
                </a:solidFill>
                <a:latin typeface="Lucida Sans Unicode"/>
                <a:cs typeface="Lucida Sans Unicode"/>
              </a:rPr>
              <a:t>ила</a:t>
            </a:r>
            <a:r>
              <a:rPr sz="1546" dirty="0">
                <a:solidFill>
                  <a:srgbClr val="3D3D3D"/>
                </a:solidFill>
                <a:latin typeface="Lucida Sans Unicode"/>
                <a:cs typeface="Lucida Sans Unicode"/>
              </a:rPr>
              <a:t>:</a:t>
            </a:r>
            <a:r>
              <a:rPr sz="1546" spc="-15" dirty="0">
                <a:solidFill>
                  <a:srgbClr val="3D3D3D"/>
                </a:solidFill>
                <a:latin typeface="Lucida Sans Unicode"/>
                <a:cs typeface="Lucida Sans Unicode"/>
              </a:rPr>
              <a:t> </a:t>
            </a:r>
            <a:r>
              <a:rPr sz="1546" dirty="0" err="1">
                <a:solidFill>
                  <a:srgbClr val="333333"/>
                </a:solidFill>
                <a:latin typeface="Lucida Sans Unicode"/>
                <a:cs typeface="Lucida Sans Unicode"/>
              </a:rPr>
              <a:t>Клишин</a:t>
            </a:r>
            <a:r>
              <a:rPr lang="ru-RU" sz="1546" dirty="0">
                <a:solidFill>
                  <a:srgbClr val="333333"/>
                </a:solidFill>
                <a:latin typeface="Lucida Sans Unicode"/>
                <a:cs typeface="Lucida Sans Unicode"/>
              </a:rPr>
              <a:t>а</a:t>
            </a:r>
            <a:r>
              <a:rPr sz="1546" spc="61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1546" spc="30" dirty="0">
                <a:solidFill>
                  <a:srgbClr val="363636"/>
                </a:solidFill>
                <a:latin typeface="Lucida Sans Unicode"/>
                <a:cs typeface="Lucida Sans Unicode"/>
              </a:rPr>
              <a:t>Анастасия</a:t>
            </a:r>
            <a:r>
              <a:rPr sz="1546" spc="6" dirty="0">
                <a:solidFill>
                  <a:srgbClr val="363636"/>
                </a:solidFill>
                <a:latin typeface="Lucida Sans Unicode"/>
                <a:cs typeface="Lucida Sans Unicode"/>
              </a:rPr>
              <a:t> </a:t>
            </a:r>
            <a:r>
              <a:rPr sz="1546" spc="-6" dirty="0">
                <a:solidFill>
                  <a:srgbClr val="3D3D3D"/>
                </a:solidFill>
                <a:latin typeface="Lucida Sans Unicode"/>
                <a:cs typeface="Lucida Sans Unicode"/>
              </a:rPr>
              <a:t>Игоревна</a:t>
            </a:r>
            <a:endParaRPr sz="1546" dirty="0">
              <a:latin typeface="Lucida Sans Unicode"/>
              <a:cs typeface="Lucida Sans Unicode"/>
            </a:endParaRPr>
          </a:p>
          <a:p>
            <a:pPr marL="10782">
              <a:spcBef>
                <a:spcPts val="2268"/>
              </a:spcBef>
            </a:pPr>
            <a:r>
              <a:rPr sz="1546" spc="-49" dirty="0">
                <a:solidFill>
                  <a:srgbClr val="3A3A3A"/>
                </a:solidFill>
                <a:latin typeface="Lucida Sans Unicode"/>
                <a:cs typeface="Lucida Sans Unicode"/>
              </a:rPr>
              <a:t>Группа:</a:t>
            </a:r>
            <a:r>
              <a:rPr sz="1546" spc="-79" dirty="0">
                <a:solidFill>
                  <a:srgbClr val="3A3A3A"/>
                </a:solidFill>
                <a:latin typeface="Lucida Sans Unicode"/>
                <a:cs typeface="Lucida Sans Unicode"/>
              </a:rPr>
              <a:t> </a:t>
            </a:r>
            <a:r>
              <a:rPr sz="1546" spc="-152" dirty="0">
                <a:solidFill>
                  <a:srgbClr val="3A3A3A"/>
                </a:solidFill>
                <a:latin typeface="Lucida Sans Unicode"/>
                <a:cs typeface="Lucida Sans Unicode"/>
              </a:rPr>
              <a:t>253-</a:t>
            </a:r>
            <a:r>
              <a:rPr sz="1546" spc="-15" dirty="0">
                <a:solidFill>
                  <a:srgbClr val="3A3A3A"/>
                </a:solidFill>
                <a:latin typeface="Lucida Sans Unicode"/>
                <a:cs typeface="Lucida Sans Unicode"/>
              </a:rPr>
              <a:t>321</a:t>
            </a:r>
            <a:endParaRPr sz="1546" dirty="0">
              <a:latin typeface="Lucida Sans Unicode"/>
              <a:cs typeface="Lucida Sans Unicode"/>
            </a:endParaRPr>
          </a:p>
          <a:p>
            <a:pPr marL="7701">
              <a:spcBef>
                <a:spcPts val="2180"/>
              </a:spcBef>
            </a:pPr>
            <a:r>
              <a:rPr sz="1637" spc="-97" dirty="0">
                <a:solidFill>
                  <a:srgbClr val="3B3B3B"/>
                </a:solidFill>
                <a:latin typeface="Lucida Sans Unicode"/>
                <a:cs typeface="Lucida Sans Unicode"/>
              </a:rPr>
              <a:t>Дисциплина:</a:t>
            </a:r>
            <a:r>
              <a:rPr sz="1637" spc="-9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1637" spc="-6" dirty="0">
                <a:solidFill>
                  <a:srgbClr val="3D3D3D"/>
                </a:solidFill>
                <a:latin typeface="Lucida Sans Unicode"/>
                <a:cs typeface="Lucida Sans Unicode"/>
              </a:rPr>
              <a:t>Программирование</a:t>
            </a:r>
            <a:endParaRPr sz="1637" dirty="0">
              <a:latin typeface="Lucida Sans Unicode"/>
              <a:cs typeface="Lucida Sans Unicode"/>
            </a:endParaRPr>
          </a:p>
          <a:p>
            <a:pPr marL="7701">
              <a:spcBef>
                <a:spcPts val="2250"/>
              </a:spcBef>
            </a:pPr>
            <a:r>
              <a:rPr sz="1546" spc="30" dirty="0">
                <a:solidFill>
                  <a:srgbClr val="343434"/>
                </a:solidFill>
                <a:latin typeface="Lucida Sans Unicode"/>
                <a:cs typeface="Lucida Sans Unicode"/>
              </a:rPr>
              <a:t>Дата:</a:t>
            </a:r>
            <a:r>
              <a:rPr sz="1546" spc="-212" dirty="0">
                <a:solidFill>
                  <a:srgbClr val="343434"/>
                </a:solidFill>
                <a:latin typeface="Lucida Sans Unicode"/>
                <a:cs typeface="Lucida Sans Unicode"/>
              </a:rPr>
              <a:t> </a:t>
            </a:r>
            <a:r>
              <a:rPr sz="1546" spc="-18" dirty="0">
                <a:solidFill>
                  <a:srgbClr val="383838"/>
                </a:solidFill>
                <a:latin typeface="Lucida Sans Unicode"/>
                <a:cs typeface="Lucida Sans Unicode"/>
              </a:rPr>
              <a:t>19.05.2026</a:t>
            </a:r>
            <a:endParaRPr sz="1546" dirty="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665" y="312714"/>
            <a:ext cx="5383203" cy="537494"/>
          </a:xfrm>
          <a:prstGeom prst="rect">
            <a:avLst/>
          </a:prstGeom>
        </p:spPr>
        <p:txBody>
          <a:bodyPr vert="horz" wrap="square" lIns="0" tIns="227496" rIns="0" bIns="0" rtlCol="0" anchor="ctr">
            <a:spAutoFit/>
          </a:bodyPr>
          <a:lstStyle/>
          <a:p>
            <a:pPr marL="13862">
              <a:lnSpc>
                <a:spcPct val="100000"/>
              </a:lnSpc>
              <a:spcBef>
                <a:spcPts val="76"/>
              </a:spcBef>
            </a:pPr>
            <a:r>
              <a:rPr sz="2000" spc="278" dirty="0">
                <a:solidFill>
                  <a:srgbClr val="EB1C1C"/>
                </a:solidFill>
                <a:latin typeface="Calibri"/>
                <a:cs typeface="Calibri"/>
              </a:rPr>
              <a:t>КЕЙС</a:t>
            </a:r>
            <a:r>
              <a:rPr sz="2000" spc="82" dirty="0">
                <a:solidFill>
                  <a:srgbClr val="EB1C1C"/>
                </a:solidFill>
                <a:latin typeface="Calibri"/>
                <a:cs typeface="Calibri"/>
              </a:rPr>
              <a:t> </a:t>
            </a:r>
            <a:r>
              <a:rPr sz="2000" spc="330" dirty="0">
                <a:solidFill>
                  <a:srgbClr val="E21D24"/>
                </a:solidFill>
                <a:latin typeface="Calibri"/>
                <a:cs typeface="Calibri"/>
              </a:rPr>
              <a:t>И</a:t>
            </a:r>
            <a:r>
              <a:rPr sz="2000" spc="49" dirty="0">
                <a:solidFill>
                  <a:srgbClr val="E21D24"/>
                </a:solidFill>
                <a:latin typeface="Calibri"/>
                <a:cs typeface="Calibri"/>
              </a:rPr>
              <a:t> </a:t>
            </a:r>
            <a:r>
              <a:rPr sz="2000" spc="267" dirty="0">
                <a:solidFill>
                  <a:srgbClr val="D12A23"/>
                </a:solidFill>
                <a:latin typeface="Calibri"/>
                <a:cs typeface="Calibri"/>
              </a:rPr>
              <a:t>АКТУАЛЬНОСТЬ</a:t>
            </a:r>
            <a:r>
              <a:rPr sz="2000" spc="334" dirty="0">
                <a:solidFill>
                  <a:srgbClr val="D12A23"/>
                </a:solidFill>
                <a:latin typeface="Calibri"/>
                <a:cs typeface="Calibri"/>
              </a:rPr>
              <a:t> </a:t>
            </a:r>
            <a:r>
              <a:rPr sz="2000" spc="258" dirty="0">
                <a:solidFill>
                  <a:srgbClr val="E81D1C"/>
                </a:solidFill>
                <a:latin typeface="Calibri"/>
                <a:cs typeface="Calibri"/>
              </a:rPr>
              <a:t>ПPOEKTA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9328" y="2676970"/>
            <a:ext cx="4253808" cy="213992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lang="ru-RU" sz="2092" spc="133" dirty="0">
                <a:solidFill>
                  <a:srgbClr val="D6181A"/>
                </a:solidFill>
                <a:latin typeface="Calibri"/>
                <a:cs typeface="Calibri"/>
              </a:rPr>
              <a:t>К</a:t>
            </a:r>
            <a:r>
              <a:rPr sz="2092" spc="133" dirty="0" err="1">
                <a:solidFill>
                  <a:srgbClr val="D6181A"/>
                </a:solidFill>
                <a:latin typeface="Calibri"/>
                <a:cs typeface="Calibri"/>
              </a:rPr>
              <a:t>ейс</a:t>
            </a:r>
            <a:endParaRPr sz="2092" dirty="0">
              <a:latin typeface="Calibri"/>
              <a:cs typeface="Calibri"/>
            </a:endParaRPr>
          </a:p>
          <a:p>
            <a:pPr marL="10782" marR="3081" indent="3466">
              <a:lnSpc>
                <a:spcPct val="115300"/>
              </a:lnSpc>
              <a:spcBef>
                <a:spcPts val="1853"/>
              </a:spcBef>
            </a:pPr>
            <a:r>
              <a:rPr sz="1789" dirty="0">
                <a:solidFill>
                  <a:srgbClr val="3A3A3A"/>
                </a:solidFill>
                <a:latin typeface="Calibri"/>
                <a:cs typeface="Calibri"/>
              </a:rPr>
              <a:t>Создаём</a:t>
            </a:r>
            <a:r>
              <a:rPr sz="1789" spc="109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B3B3B"/>
                </a:solidFill>
                <a:latin typeface="Calibri"/>
                <a:cs typeface="Calibri"/>
              </a:rPr>
              <a:t>инновационное</a:t>
            </a:r>
            <a:r>
              <a:rPr sz="1789" spc="203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B3B3B"/>
                </a:solidFill>
                <a:latin typeface="Calibri"/>
                <a:cs typeface="Calibri"/>
              </a:rPr>
              <a:t>приложение</a:t>
            </a:r>
            <a:r>
              <a:rPr sz="1789" spc="167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spc="45" dirty="0">
                <a:solidFill>
                  <a:srgbClr val="3D3D3D"/>
                </a:solidFill>
                <a:latin typeface="Calibri"/>
                <a:cs typeface="Calibri"/>
              </a:rPr>
              <a:t>на </a:t>
            </a:r>
            <a:r>
              <a:rPr sz="1789" spc="-27" dirty="0">
                <a:solidFill>
                  <a:srgbClr val="3D3D3D"/>
                </a:solidFill>
                <a:latin typeface="Calibri"/>
                <a:cs typeface="Calibri"/>
              </a:rPr>
              <a:t>Python,</a:t>
            </a:r>
            <a:r>
              <a:rPr sz="1789" spc="3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F3F3F"/>
                </a:solidFill>
                <a:latin typeface="Calibri"/>
                <a:cs typeface="Calibri"/>
              </a:rPr>
              <a:t>которое</a:t>
            </a:r>
            <a:r>
              <a:rPr sz="1789" spc="97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89" spc="39" dirty="0">
                <a:solidFill>
                  <a:srgbClr val="383838"/>
                </a:solidFill>
                <a:latin typeface="Calibri"/>
                <a:cs typeface="Calibri"/>
              </a:rPr>
              <a:t>автоматизирует</a:t>
            </a:r>
            <a:r>
              <a:rPr sz="1789" spc="-33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D3D3D"/>
                </a:solidFill>
                <a:latin typeface="Calibri"/>
                <a:cs typeface="Calibri"/>
              </a:rPr>
              <a:t>создание </a:t>
            </a:r>
            <a:r>
              <a:rPr sz="1789" dirty="0">
                <a:solidFill>
                  <a:srgbClr val="3A3A3A"/>
                </a:solidFill>
                <a:latin typeface="Calibri"/>
                <a:cs typeface="Calibri"/>
              </a:rPr>
              <a:t>персонажей</a:t>
            </a:r>
            <a:r>
              <a:rPr sz="1789" spc="27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63636"/>
                </a:solidFill>
                <a:latin typeface="Calibri"/>
                <a:cs typeface="Calibri"/>
              </a:rPr>
              <a:t>для</a:t>
            </a:r>
            <a:r>
              <a:rPr sz="1789" spc="36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789" spc="39" dirty="0">
                <a:solidFill>
                  <a:srgbClr val="383838"/>
                </a:solidFill>
                <a:latin typeface="Calibri"/>
                <a:cs typeface="Calibri"/>
              </a:rPr>
              <a:t>настольных</a:t>
            </a:r>
            <a:r>
              <a:rPr sz="1789" spc="206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83838"/>
                </a:solidFill>
                <a:latin typeface="Calibri"/>
                <a:cs typeface="Calibri"/>
              </a:rPr>
              <a:t>ролевых</a:t>
            </a:r>
            <a:r>
              <a:rPr sz="1789" spc="13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789" spc="-12" dirty="0">
                <a:solidFill>
                  <a:srgbClr val="3A3A3A"/>
                </a:solidFill>
                <a:latin typeface="Calibri"/>
                <a:cs typeface="Calibri"/>
              </a:rPr>
              <a:t>игр. </a:t>
            </a:r>
            <a:r>
              <a:rPr sz="1789" dirty="0">
                <a:solidFill>
                  <a:srgbClr val="343434"/>
                </a:solidFill>
                <a:latin typeface="Calibri"/>
                <a:cs typeface="Calibri"/>
              </a:rPr>
              <a:t>Платформа</a:t>
            </a:r>
            <a:r>
              <a:rPr sz="1789" spc="5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B3B3B"/>
                </a:solidFill>
                <a:latin typeface="Calibri"/>
                <a:cs typeface="Calibri"/>
              </a:rPr>
              <a:t>решает</a:t>
            </a:r>
            <a:r>
              <a:rPr sz="1789" spc="154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B3B3B"/>
                </a:solidFill>
                <a:latin typeface="Calibri"/>
                <a:cs typeface="Calibri"/>
              </a:rPr>
              <a:t>проблему</a:t>
            </a:r>
            <a:r>
              <a:rPr sz="1789" spc="136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13131"/>
                </a:solidFill>
                <a:latin typeface="Calibri"/>
                <a:cs typeface="Calibri"/>
              </a:rPr>
              <a:t>«паралича </a:t>
            </a:r>
            <a:r>
              <a:rPr sz="1789" dirty="0">
                <a:solidFill>
                  <a:srgbClr val="3A3A3A"/>
                </a:solidFill>
                <a:latin typeface="Calibri"/>
                <a:cs typeface="Calibri"/>
              </a:rPr>
              <a:t>выбора»</a:t>
            </a:r>
            <a:r>
              <a:rPr sz="1789" spc="-18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464646"/>
                </a:solidFill>
                <a:latin typeface="Calibri"/>
                <a:cs typeface="Calibri"/>
              </a:rPr>
              <a:t>и</a:t>
            </a:r>
            <a:r>
              <a:rPr sz="1789" spc="-1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D3D3D"/>
                </a:solidFill>
                <a:latin typeface="Calibri"/>
                <a:cs typeface="Calibri"/>
              </a:rPr>
              <a:t>долгой</a:t>
            </a:r>
            <a:r>
              <a:rPr sz="1789" spc="4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B3B3B"/>
                </a:solidFill>
                <a:latin typeface="Calibri"/>
                <a:cs typeface="Calibri"/>
              </a:rPr>
              <a:t>рутины.</a:t>
            </a:r>
            <a:endParaRPr sz="1789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82" y="2676970"/>
            <a:ext cx="4543377" cy="213992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15017">
              <a:spcBef>
                <a:spcPts val="76"/>
              </a:spcBef>
            </a:pPr>
            <a:r>
              <a:rPr sz="2092" spc="121" dirty="0">
                <a:solidFill>
                  <a:srgbClr val="F61D26"/>
                </a:solidFill>
                <a:latin typeface="Calibri"/>
                <a:cs typeface="Calibri"/>
              </a:rPr>
              <a:t>Усиливающие</a:t>
            </a:r>
            <a:r>
              <a:rPr sz="2092" spc="227" dirty="0">
                <a:solidFill>
                  <a:srgbClr val="F61D26"/>
                </a:solidFill>
                <a:latin typeface="Calibri"/>
                <a:cs typeface="Calibri"/>
              </a:rPr>
              <a:t> </a:t>
            </a:r>
            <a:r>
              <a:rPr sz="2092" spc="154" dirty="0">
                <a:solidFill>
                  <a:srgbClr val="DF1C21"/>
                </a:solidFill>
                <a:latin typeface="Calibri"/>
                <a:cs typeface="Calibri"/>
              </a:rPr>
              <a:t>факторы</a:t>
            </a:r>
            <a:endParaRPr sz="2092">
              <a:latin typeface="Calibri"/>
              <a:cs typeface="Calibri"/>
            </a:endParaRPr>
          </a:p>
          <a:p>
            <a:pPr marL="9627" marR="3081" indent="-2310">
              <a:lnSpc>
                <a:spcPct val="115300"/>
              </a:lnSpc>
              <a:spcBef>
                <a:spcPts val="1853"/>
              </a:spcBef>
            </a:pPr>
            <a:r>
              <a:rPr sz="1789" spc="97" dirty="0">
                <a:solidFill>
                  <a:srgbClr val="414141"/>
                </a:solidFill>
                <a:latin typeface="Calibri"/>
                <a:cs typeface="Calibri"/>
              </a:rPr>
              <a:t>Рост</a:t>
            </a:r>
            <a:r>
              <a:rPr sz="1789" spc="12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43434"/>
                </a:solidFill>
                <a:latin typeface="Calibri"/>
                <a:cs typeface="Calibri"/>
              </a:rPr>
              <a:t>популярности</a:t>
            </a:r>
            <a:r>
              <a:rPr sz="1789" spc="18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789" spc="67" dirty="0">
                <a:solidFill>
                  <a:srgbClr val="414141"/>
                </a:solidFill>
                <a:latin typeface="Calibri"/>
                <a:cs typeface="Calibri"/>
              </a:rPr>
              <a:t>RPG</a:t>
            </a:r>
            <a:r>
              <a:rPr sz="1789" spc="-12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1789" spc="-106" dirty="0">
                <a:solidFill>
                  <a:srgbClr val="363636"/>
                </a:solidFill>
                <a:latin typeface="Calibri"/>
                <a:cs typeface="Calibri"/>
              </a:rPr>
              <a:t>(D&amp;D,</a:t>
            </a:r>
            <a:r>
              <a:rPr sz="1789" spc="-21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789" spc="-18" dirty="0">
                <a:solidFill>
                  <a:srgbClr val="3D3D3D"/>
                </a:solidFill>
                <a:latin typeface="Calibri"/>
                <a:cs typeface="Calibri"/>
              </a:rPr>
              <a:t>Pathfinder)</a:t>
            </a:r>
            <a:r>
              <a:rPr sz="1789" spc="19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789" spc="-30" dirty="0">
                <a:solidFill>
                  <a:srgbClr val="3F3F3F"/>
                </a:solidFill>
                <a:latin typeface="Calibri"/>
                <a:cs typeface="Calibri"/>
              </a:rPr>
              <a:t>и </a:t>
            </a:r>
            <a:r>
              <a:rPr sz="1789" dirty="0">
                <a:solidFill>
                  <a:srgbClr val="3B3B3B"/>
                </a:solidFill>
                <a:latin typeface="Calibri"/>
                <a:cs typeface="Calibri"/>
              </a:rPr>
              <a:t>дефицит</a:t>
            </a:r>
            <a:r>
              <a:rPr sz="1789" spc="133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63636"/>
                </a:solidFill>
                <a:latin typeface="Calibri"/>
                <a:cs typeface="Calibri"/>
              </a:rPr>
              <a:t>времени</a:t>
            </a:r>
            <a:r>
              <a:rPr sz="1789" spc="173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83838"/>
                </a:solidFill>
                <a:latin typeface="Calibri"/>
                <a:cs typeface="Calibri"/>
              </a:rPr>
              <a:t>у</a:t>
            </a:r>
            <a:r>
              <a:rPr sz="1789" spc="-6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63636"/>
                </a:solidFill>
                <a:latin typeface="Calibri"/>
                <a:cs typeface="Calibri"/>
              </a:rPr>
              <a:t>мастеров</a:t>
            </a:r>
            <a:r>
              <a:rPr sz="1789" spc="109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D3D3D"/>
                </a:solidFill>
                <a:latin typeface="Calibri"/>
                <a:cs typeface="Calibri"/>
              </a:rPr>
              <a:t>ведут</a:t>
            </a:r>
            <a:r>
              <a:rPr sz="1789" spc="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444444"/>
                </a:solidFill>
                <a:latin typeface="Calibri"/>
                <a:cs typeface="Calibri"/>
              </a:rPr>
              <a:t>к</a:t>
            </a:r>
            <a:r>
              <a:rPr sz="1789" spc="61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D3D3D"/>
                </a:solidFill>
                <a:latin typeface="Calibri"/>
                <a:cs typeface="Calibri"/>
              </a:rPr>
              <a:t>запросу </a:t>
            </a:r>
            <a:r>
              <a:rPr sz="1789" spc="61" dirty="0">
                <a:solidFill>
                  <a:srgbClr val="3D3D3D"/>
                </a:solidFill>
                <a:latin typeface="Calibri"/>
                <a:cs typeface="Calibri"/>
              </a:rPr>
              <a:t>на</a:t>
            </a:r>
            <a:r>
              <a:rPr sz="1789" spc="-4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B3B3B"/>
                </a:solidFill>
                <a:latin typeface="Calibri"/>
                <a:cs typeface="Calibri"/>
              </a:rPr>
              <a:t>мгновенные</a:t>
            </a:r>
            <a:r>
              <a:rPr sz="1789" spc="167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33333"/>
                </a:solidFill>
                <a:latin typeface="Calibri"/>
                <a:cs typeface="Calibri"/>
              </a:rPr>
              <a:t>решения.</a:t>
            </a:r>
            <a:r>
              <a:rPr sz="1789" spc="12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D3D3D"/>
                </a:solidFill>
                <a:latin typeface="Calibri"/>
                <a:cs typeface="Calibri"/>
              </a:rPr>
              <a:t>Ручное</a:t>
            </a:r>
            <a:r>
              <a:rPr sz="1789" spc="7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A3A3A"/>
                </a:solidFill>
                <a:latin typeface="Calibri"/>
                <a:cs typeface="Calibri"/>
              </a:rPr>
              <a:t>создание </a:t>
            </a:r>
            <a:r>
              <a:rPr sz="1789" dirty="0">
                <a:solidFill>
                  <a:srgbClr val="3B3B3B"/>
                </a:solidFill>
                <a:latin typeface="Calibri"/>
                <a:cs typeface="Calibri"/>
              </a:rPr>
              <a:t>занимает</a:t>
            </a:r>
            <a:r>
              <a:rPr sz="1789" spc="164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43434"/>
                </a:solidFill>
                <a:latin typeface="Calibri"/>
                <a:cs typeface="Calibri"/>
              </a:rPr>
              <a:t>до</a:t>
            </a:r>
            <a:r>
              <a:rPr sz="1789" spc="21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424242"/>
                </a:solidFill>
                <a:latin typeface="Calibri"/>
                <a:cs typeface="Calibri"/>
              </a:rPr>
              <a:t>30</a:t>
            </a:r>
            <a:r>
              <a:rPr sz="1789" spc="3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A3A3A"/>
                </a:solidFill>
                <a:latin typeface="Calibri"/>
                <a:cs typeface="Calibri"/>
              </a:rPr>
              <a:t>минут</a:t>
            </a:r>
            <a:r>
              <a:rPr sz="1789" spc="73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789" spc="-358" dirty="0">
                <a:solidFill>
                  <a:srgbClr val="3B3B3B"/>
                </a:solidFill>
                <a:latin typeface="Calibri"/>
                <a:cs typeface="Calibri"/>
              </a:rPr>
              <a:t>—</a:t>
            </a:r>
            <a:r>
              <a:rPr sz="1789" spc="-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444444"/>
                </a:solidFill>
                <a:latin typeface="Calibri"/>
                <a:cs typeface="Calibri"/>
              </a:rPr>
              <a:t>наш</a:t>
            </a:r>
            <a:r>
              <a:rPr sz="1789" spc="-21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89" spc="39" dirty="0">
                <a:solidFill>
                  <a:srgbClr val="383838"/>
                </a:solidFill>
                <a:latin typeface="Calibri"/>
                <a:cs typeface="Calibri"/>
              </a:rPr>
              <a:t>сервис</a:t>
            </a:r>
            <a:r>
              <a:rPr sz="1789" spc="88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33333"/>
                </a:solidFill>
                <a:latin typeface="Calibri"/>
                <a:cs typeface="Calibri"/>
              </a:rPr>
              <a:t>делает </a:t>
            </a:r>
            <a:r>
              <a:rPr sz="1789" spc="30" dirty="0">
                <a:solidFill>
                  <a:srgbClr val="3F3F3F"/>
                </a:solidFill>
                <a:latin typeface="Calibri"/>
                <a:cs typeface="Calibri"/>
              </a:rPr>
              <a:t>это</a:t>
            </a:r>
            <a:r>
              <a:rPr sz="1789" spc="6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89" spc="69" dirty="0">
                <a:solidFill>
                  <a:srgbClr val="414141"/>
                </a:solidFill>
                <a:latin typeface="Calibri"/>
                <a:cs typeface="Calibri"/>
              </a:rPr>
              <a:t>за</a:t>
            </a:r>
            <a:r>
              <a:rPr sz="1789" spc="-8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2F2F2F"/>
                </a:solidFill>
                <a:latin typeface="Calibri"/>
                <a:cs typeface="Calibri"/>
              </a:rPr>
              <a:t>секунды.</a:t>
            </a:r>
            <a:endParaRPr sz="1789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9110" y="2695385"/>
            <a:ext cx="2381083" cy="238108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90936" y="1073868"/>
            <a:ext cx="11048273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D42328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/>
          <p:nvPr/>
        </p:nvSpPr>
        <p:spPr>
          <a:xfrm>
            <a:off x="428" y="0"/>
            <a:ext cx="12191144" cy="76243"/>
          </a:xfrm>
          <a:custGeom>
            <a:avLst/>
            <a:gdLst/>
            <a:ahLst/>
            <a:cxnLst/>
            <a:rect l="l" t="t" r="r" b="b"/>
            <a:pathLst>
              <a:path w="20104100" h="125730">
                <a:moveTo>
                  <a:pt x="0" y="0"/>
                </a:moveTo>
                <a:lnTo>
                  <a:pt x="20104101" y="0"/>
                </a:lnTo>
                <a:lnTo>
                  <a:pt x="20104101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21F1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8049" y="226218"/>
            <a:ext cx="5383203" cy="542303"/>
          </a:xfrm>
          <a:prstGeom prst="rect">
            <a:avLst/>
          </a:prstGeom>
        </p:spPr>
        <p:txBody>
          <a:bodyPr vert="horz" wrap="square" lIns="0" tIns="232258" rIns="0" bIns="0" rtlCol="0" anchor="ctr">
            <a:spAutoFit/>
          </a:bodyPr>
          <a:lstStyle/>
          <a:p>
            <a:pPr marL="13862">
              <a:lnSpc>
                <a:spcPct val="100000"/>
              </a:lnSpc>
              <a:spcBef>
                <a:spcPts val="76"/>
              </a:spcBef>
            </a:pPr>
            <a:r>
              <a:rPr sz="2000" spc="263" dirty="0">
                <a:solidFill>
                  <a:srgbClr val="E81D1A"/>
                </a:solidFill>
                <a:latin typeface="Calibri"/>
                <a:cs typeface="Calibri"/>
              </a:rPr>
              <a:t>ПРОБЛЕМЫ</a:t>
            </a:r>
            <a:r>
              <a:rPr sz="2000" spc="236" dirty="0">
                <a:solidFill>
                  <a:srgbClr val="E81D1A"/>
                </a:solidFill>
                <a:latin typeface="Calibri"/>
                <a:cs typeface="Calibri"/>
              </a:rPr>
              <a:t> </a:t>
            </a:r>
            <a:r>
              <a:rPr sz="2000" spc="278" dirty="0">
                <a:solidFill>
                  <a:srgbClr val="DB2321"/>
                </a:solidFill>
                <a:latin typeface="Calibri"/>
                <a:cs typeface="Calibri"/>
              </a:rPr>
              <a:t>ЦЕЛЕВОЙ</a:t>
            </a:r>
            <a:r>
              <a:rPr sz="2000" spc="252" dirty="0">
                <a:solidFill>
                  <a:srgbClr val="DB2321"/>
                </a:solidFill>
                <a:latin typeface="Calibri"/>
                <a:cs typeface="Calibri"/>
              </a:rPr>
              <a:t> </a:t>
            </a:r>
            <a:r>
              <a:rPr sz="2000" spc="261" dirty="0">
                <a:solidFill>
                  <a:srgbClr val="E11D2B"/>
                </a:solidFill>
                <a:latin typeface="Calibri"/>
                <a:cs typeface="Calibri"/>
              </a:rPr>
              <a:t>АУДИТОРИИ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5856" y="3338116"/>
            <a:ext cx="1658088" cy="1002168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lnSpc>
                <a:spcPts val="6046"/>
              </a:lnSpc>
              <a:spcBef>
                <a:spcPts val="73"/>
              </a:spcBef>
            </a:pPr>
            <a:r>
              <a:rPr sz="5063" spc="-564" dirty="0">
                <a:solidFill>
                  <a:srgbClr val="E81C23"/>
                </a:solidFill>
                <a:latin typeface="Lucida Sans Unicode"/>
                <a:cs typeface="Lucida Sans Unicode"/>
              </a:rPr>
              <a:t>10-</a:t>
            </a:r>
            <a:r>
              <a:rPr sz="5063" spc="-594" dirty="0">
                <a:solidFill>
                  <a:srgbClr val="E81C23"/>
                </a:solidFill>
                <a:latin typeface="Lucida Sans Unicode"/>
                <a:cs typeface="Lucida Sans Unicode"/>
              </a:rPr>
              <a:t>30</a:t>
            </a:r>
            <a:endParaRPr sz="5063">
              <a:latin typeface="Lucida Sans Unicode"/>
              <a:cs typeface="Lucida Sans Unicode"/>
            </a:endParaRPr>
          </a:p>
          <a:p>
            <a:pPr marL="177129">
              <a:lnSpc>
                <a:spcPts val="1752"/>
              </a:lnSpc>
            </a:pPr>
            <a:r>
              <a:rPr sz="1486" dirty="0">
                <a:solidFill>
                  <a:srgbClr val="0F0F0F"/>
                </a:solidFill>
                <a:latin typeface="Calibri"/>
                <a:cs typeface="Calibri"/>
              </a:rPr>
              <a:t>МИНУТ</a:t>
            </a:r>
            <a:r>
              <a:rPr sz="1486" spc="58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486" spc="33" dirty="0">
                <a:solidFill>
                  <a:srgbClr val="0F0F0F"/>
                </a:solidFill>
                <a:latin typeface="Calibri"/>
                <a:cs typeface="Calibri"/>
              </a:rPr>
              <a:t>НА</a:t>
            </a:r>
            <a:r>
              <a:rPr sz="1486" spc="-21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486" spc="-248" dirty="0">
                <a:solidFill>
                  <a:srgbClr val="161616"/>
                </a:solidFill>
                <a:latin typeface="Calibri"/>
                <a:cs typeface="Calibri"/>
              </a:rPr>
              <a:t>1</a:t>
            </a:r>
            <a:r>
              <a:rPr sz="1486" spc="203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486" spc="15" dirty="0">
                <a:latin typeface="Calibri"/>
                <a:cs typeface="Calibri"/>
              </a:rPr>
              <a:t>NPC</a:t>
            </a:r>
            <a:endParaRPr sz="1486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22364" y="2502753"/>
            <a:ext cx="1636139" cy="271789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698" spc="88" dirty="0">
                <a:solidFill>
                  <a:srgbClr val="3B3B3B"/>
                </a:solidFill>
                <a:latin typeface="Calibri"/>
                <a:cs typeface="Calibri"/>
              </a:rPr>
              <a:t>Ключевые</a:t>
            </a:r>
            <a:r>
              <a:rPr sz="1698" spc="67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98" spc="-6" dirty="0">
                <a:solidFill>
                  <a:srgbClr val="383838"/>
                </a:solidFill>
                <a:latin typeface="Calibri"/>
                <a:cs typeface="Calibri"/>
              </a:rPr>
              <a:t>боли:</a:t>
            </a:r>
            <a:endParaRPr sz="1698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08287" y="2974208"/>
            <a:ext cx="4687776" cy="622424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23489" marR="3081" indent="-16173">
              <a:lnSpc>
                <a:spcPct val="121500"/>
              </a:lnSpc>
              <a:spcBef>
                <a:spcPts val="55"/>
              </a:spcBef>
              <a:tabLst>
                <a:tab pos="281867" algn="l"/>
              </a:tabLst>
            </a:pPr>
            <a:r>
              <a:rPr sz="1698" dirty="0">
                <a:solidFill>
                  <a:srgbClr val="DF2123"/>
                </a:solidFill>
                <a:latin typeface="Calibri"/>
                <a:cs typeface="Calibri"/>
              </a:rPr>
              <a:t>@	</a:t>
            </a:r>
            <a:r>
              <a:rPr sz="1698" spc="61" dirty="0">
                <a:solidFill>
                  <a:srgbClr val="3D3D3D"/>
                </a:solidFill>
                <a:latin typeface="Calibri"/>
                <a:cs typeface="Calibri"/>
              </a:rPr>
              <a:t>Сложность:</a:t>
            </a:r>
            <a:r>
              <a:rPr sz="1698" spc="12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698" spc="85" dirty="0">
                <a:solidFill>
                  <a:srgbClr val="383838"/>
                </a:solidFill>
                <a:latin typeface="Calibri"/>
                <a:cs typeface="Calibri"/>
              </a:rPr>
              <a:t>Новичкам</a:t>
            </a:r>
            <a:r>
              <a:rPr sz="1698" spc="139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698" dirty="0">
                <a:solidFill>
                  <a:srgbClr val="3B3B3B"/>
                </a:solidFill>
                <a:latin typeface="Calibri"/>
                <a:cs typeface="Calibri"/>
              </a:rPr>
              <a:t>трудно</a:t>
            </a:r>
            <a:r>
              <a:rPr sz="1698" spc="124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98" spc="69" dirty="0">
                <a:solidFill>
                  <a:srgbClr val="3B3B3B"/>
                </a:solidFill>
                <a:latin typeface="Calibri"/>
                <a:cs typeface="Calibri"/>
              </a:rPr>
              <a:t>разобраться</a:t>
            </a:r>
            <a:r>
              <a:rPr sz="1698" spc="1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98" spc="42" dirty="0">
                <a:solidFill>
                  <a:srgbClr val="3F3F3F"/>
                </a:solidFill>
                <a:latin typeface="Calibri"/>
                <a:cs typeface="Calibri"/>
              </a:rPr>
              <a:t>в </a:t>
            </a:r>
            <a:r>
              <a:rPr sz="1698" spc="64" dirty="0">
                <a:solidFill>
                  <a:srgbClr val="3B3B3B"/>
                </a:solidFill>
                <a:latin typeface="Calibri"/>
                <a:cs typeface="Calibri"/>
              </a:rPr>
              <a:t>правилах</a:t>
            </a:r>
            <a:r>
              <a:rPr sz="1698" spc="127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98" spc="30" dirty="0">
                <a:solidFill>
                  <a:srgbClr val="363636"/>
                </a:solidFill>
                <a:latin typeface="Calibri"/>
                <a:cs typeface="Calibri"/>
              </a:rPr>
              <a:t>генерации.</a:t>
            </a:r>
            <a:endParaRPr sz="1698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07463" y="3795284"/>
            <a:ext cx="5288092" cy="622108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1564" marR="3081" indent="-14247">
              <a:lnSpc>
                <a:spcPct val="115300"/>
              </a:lnSpc>
              <a:spcBef>
                <a:spcPts val="58"/>
              </a:spcBef>
            </a:pPr>
            <a:r>
              <a:rPr sz="1789" spc="64" dirty="0">
                <a:solidFill>
                  <a:srgbClr val="DF1F24"/>
                </a:solidFill>
                <a:latin typeface="Calibri"/>
                <a:cs typeface="Calibri"/>
              </a:rPr>
              <a:t>@</a:t>
            </a:r>
            <a:r>
              <a:rPr sz="1789" spc="69" dirty="0">
                <a:solidFill>
                  <a:srgbClr val="DF1F24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83838"/>
                </a:solidFill>
                <a:latin typeface="Calibri"/>
                <a:cs typeface="Calibri"/>
              </a:rPr>
              <a:t>Рутина:</a:t>
            </a:r>
            <a:r>
              <a:rPr sz="1789" spc="9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B3B3B"/>
                </a:solidFill>
                <a:latin typeface="Calibri"/>
                <a:cs typeface="Calibri"/>
              </a:rPr>
              <a:t>Мастера</a:t>
            </a:r>
            <a:r>
              <a:rPr sz="1789" spc="36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spc="42" dirty="0">
                <a:solidFill>
                  <a:srgbClr val="3A3A3A"/>
                </a:solidFill>
                <a:latin typeface="Calibri"/>
                <a:cs typeface="Calibri"/>
              </a:rPr>
              <a:t>тратят</a:t>
            </a:r>
            <a:r>
              <a:rPr sz="1789" spc="118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F3F3F"/>
                </a:solidFill>
                <a:latin typeface="Calibri"/>
                <a:cs typeface="Calibri"/>
              </a:rPr>
              <a:t>до</a:t>
            </a:r>
            <a:r>
              <a:rPr sz="1789" spc="58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424242"/>
                </a:solidFill>
                <a:latin typeface="Calibri"/>
                <a:cs typeface="Calibri"/>
              </a:rPr>
              <a:t>10</a:t>
            </a:r>
            <a:r>
              <a:rPr sz="1789" spc="52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1789" spc="49" dirty="0">
                <a:solidFill>
                  <a:srgbClr val="3A3A3A"/>
                </a:solidFill>
                <a:latin typeface="Calibri"/>
                <a:cs typeface="Calibri"/>
              </a:rPr>
              <a:t>часов</a:t>
            </a:r>
            <a:r>
              <a:rPr sz="1789" spc="64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789" spc="61" dirty="0">
                <a:solidFill>
                  <a:srgbClr val="4B4B4B"/>
                </a:solidFill>
                <a:latin typeface="Calibri"/>
                <a:cs typeface="Calibri"/>
              </a:rPr>
              <a:t>на</a:t>
            </a:r>
            <a:r>
              <a:rPr sz="1789" spc="-103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A3A3A"/>
                </a:solidFill>
                <a:latin typeface="Calibri"/>
                <a:cs typeface="Calibri"/>
              </a:rPr>
              <a:t>подготовку </a:t>
            </a:r>
            <a:r>
              <a:rPr sz="1789" spc="88" dirty="0">
                <a:solidFill>
                  <a:srgbClr val="484848"/>
                </a:solidFill>
                <a:latin typeface="Calibri"/>
                <a:cs typeface="Calibri"/>
              </a:rPr>
              <a:t>NPC</a:t>
            </a:r>
            <a:r>
              <a:rPr sz="1789" spc="-42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B3B3B"/>
                </a:solidFill>
                <a:latin typeface="Calibri"/>
                <a:cs typeface="Calibri"/>
              </a:rPr>
              <a:t>для</a:t>
            </a:r>
            <a:r>
              <a:rPr sz="1789" spc="-42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D3D3D"/>
                </a:solidFill>
                <a:latin typeface="Calibri"/>
                <a:cs typeface="Calibri"/>
              </a:rPr>
              <a:t>одной</a:t>
            </a:r>
            <a:r>
              <a:rPr sz="1789" spc="2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B3B3B"/>
                </a:solidFill>
                <a:latin typeface="Calibri"/>
                <a:cs typeface="Calibri"/>
              </a:rPr>
              <a:t>кампании.</a:t>
            </a:r>
            <a:endParaRPr sz="1789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07463" y="4614377"/>
            <a:ext cx="5300029" cy="622108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3874" marR="3081" indent="-16558">
              <a:lnSpc>
                <a:spcPct val="115300"/>
              </a:lnSpc>
              <a:spcBef>
                <a:spcPts val="58"/>
              </a:spcBef>
            </a:pPr>
            <a:r>
              <a:rPr sz="1789" dirty="0">
                <a:solidFill>
                  <a:srgbClr val="E21F24"/>
                </a:solidFill>
                <a:latin typeface="Calibri"/>
                <a:cs typeface="Calibri"/>
              </a:rPr>
              <a:t>@</a:t>
            </a:r>
            <a:r>
              <a:rPr sz="1789" spc="200" dirty="0">
                <a:solidFill>
                  <a:srgbClr val="E21F24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B3B3B"/>
                </a:solidFill>
                <a:latin typeface="Calibri"/>
                <a:cs typeface="Calibri"/>
              </a:rPr>
              <a:t>Зависимость:</a:t>
            </a:r>
            <a:r>
              <a:rPr sz="1789" spc="206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spc="36" dirty="0">
                <a:solidFill>
                  <a:srgbClr val="3B3B3B"/>
                </a:solidFill>
                <a:latin typeface="Calibri"/>
                <a:cs typeface="Calibri"/>
              </a:rPr>
              <a:t>Онлайн-</a:t>
            </a:r>
            <a:r>
              <a:rPr sz="1789" spc="33" dirty="0">
                <a:solidFill>
                  <a:srgbClr val="3B3B3B"/>
                </a:solidFill>
                <a:latin typeface="Calibri"/>
                <a:cs typeface="Calibri"/>
              </a:rPr>
              <a:t>сервисы</a:t>
            </a:r>
            <a:r>
              <a:rPr sz="1789" spc="-49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D3D3D"/>
                </a:solidFill>
                <a:latin typeface="Calibri"/>
                <a:cs typeface="Calibri"/>
              </a:rPr>
              <a:t>требуют</a:t>
            </a:r>
            <a:r>
              <a:rPr sz="1789" spc="14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83838"/>
                </a:solidFill>
                <a:latin typeface="Calibri"/>
                <a:cs typeface="Calibri"/>
              </a:rPr>
              <a:t>интернета </a:t>
            </a:r>
            <a:r>
              <a:rPr sz="1789" dirty="0">
                <a:solidFill>
                  <a:srgbClr val="363636"/>
                </a:solidFill>
                <a:latin typeface="Calibri"/>
                <a:cs typeface="Calibri"/>
              </a:rPr>
              <a:t>и</a:t>
            </a:r>
            <a:r>
              <a:rPr sz="1789" spc="-73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A3A3A"/>
                </a:solidFill>
                <a:latin typeface="Calibri"/>
                <a:cs typeface="Calibri"/>
              </a:rPr>
              <a:t>перегружены</a:t>
            </a:r>
            <a:r>
              <a:rPr sz="1789" spc="97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43434"/>
                </a:solidFill>
                <a:latin typeface="Calibri"/>
                <a:cs typeface="Calibri"/>
              </a:rPr>
              <a:t>рекламой.</a:t>
            </a:r>
            <a:endParaRPr sz="1789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0936" y="1073868"/>
            <a:ext cx="11048273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D42328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0"/>
            <a:ext cx="12191144" cy="76243"/>
          </a:xfrm>
          <a:custGeom>
            <a:avLst/>
            <a:gdLst/>
            <a:ahLst/>
            <a:cxnLst/>
            <a:rect l="l" t="t" r="r" b="b"/>
            <a:pathLst>
              <a:path w="20104100" h="125730">
                <a:moveTo>
                  <a:pt x="0" y="0"/>
                </a:moveTo>
                <a:lnTo>
                  <a:pt x="20104101" y="0"/>
                </a:lnTo>
                <a:lnTo>
                  <a:pt x="20104101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21F1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08713" y="412199"/>
            <a:ext cx="5383203" cy="537494"/>
          </a:xfrm>
          <a:prstGeom prst="rect">
            <a:avLst/>
          </a:prstGeom>
        </p:spPr>
        <p:txBody>
          <a:bodyPr vert="horz" wrap="square" lIns="0" tIns="227496" rIns="0" bIns="0" rtlCol="0" anchor="ctr">
            <a:spAutoFit/>
          </a:bodyPr>
          <a:lstStyle/>
          <a:p>
            <a:pPr marL="13862">
              <a:lnSpc>
                <a:spcPct val="100000"/>
              </a:lnSpc>
              <a:spcBef>
                <a:spcPts val="76"/>
              </a:spcBef>
            </a:pPr>
            <a:r>
              <a:rPr sz="2000" spc="306" dirty="0">
                <a:solidFill>
                  <a:srgbClr val="EB1C26"/>
                </a:solidFill>
                <a:latin typeface="Calibri"/>
                <a:cs typeface="Calibri"/>
              </a:rPr>
              <a:t>ЦЕЛЬ</a:t>
            </a:r>
            <a:r>
              <a:rPr sz="2000" spc="85" dirty="0">
                <a:solidFill>
                  <a:srgbClr val="EB1C26"/>
                </a:solidFill>
                <a:latin typeface="Calibri"/>
                <a:cs typeface="Calibri"/>
              </a:rPr>
              <a:t> </a:t>
            </a:r>
            <a:r>
              <a:rPr sz="2000" spc="349" dirty="0">
                <a:solidFill>
                  <a:srgbClr val="E91A26"/>
                </a:solidFill>
                <a:latin typeface="Calibri"/>
                <a:cs typeface="Calibri"/>
              </a:rPr>
              <a:t>И</a:t>
            </a:r>
            <a:r>
              <a:rPr sz="2000" spc="-73" dirty="0">
                <a:solidFill>
                  <a:srgbClr val="E91A26"/>
                </a:solidFill>
                <a:latin typeface="Calibri"/>
                <a:cs typeface="Calibri"/>
              </a:rPr>
              <a:t> </a:t>
            </a:r>
            <a:r>
              <a:rPr sz="2000" spc="293" dirty="0">
                <a:solidFill>
                  <a:srgbClr val="D1211F"/>
                </a:solidFill>
                <a:latin typeface="Calibri"/>
                <a:cs typeface="Calibri"/>
              </a:rPr>
              <a:t>ЗАДАЧИ</a:t>
            </a:r>
            <a:r>
              <a:rPr sz="2000" spc="233" dirty="0">
                <a:solidFill>
                  <a:srgbClr val="D1211F"/>
                </a:solidFill>
                <a:latin typeface="Calibri"/>
                <a:cs typeface="Calibri"/>
              </a:rPr>
              <a:t> </a:t>
            </a:r>
            <a:r>
              <a:rPr sz="2000" spc="258" dirty="0">
                <a:solidFill>
                  <a:srgbClr val="E91F21"/>
                </a:solidFill>
                <a:latin typeface="Calibri"/>
                <a:cs typeface="Calibri"/>
              </a:rPr>
              <a:t>ПPOEKTA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3494" y="2612283"/>
            <a:ext cx="10027851" cy="622424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11552" marR="3081" indent="-4236">
              <a:lnSpc>
                <a:spcPct val="121500"/>
              </a:lnSpc>
              <a:spcBef>
                <a:spcPts val="55"/>
              </a:spcBef>
            </a:pPr>
            <a:r>
              <a:rPr sz="1698" spc="36" dirty="0">
                <a:solidFill>
                  <a:srgbClr val="343434"/>
                </a:solidFill>
                <a:latin typeface="Calibri"/>
                <a:cs typeface="Calibri"/>
              </a:rPr>
              <a:t>Главная</a:t>
            </a:r>
            <a:r>
              <a:rPr sz="1698" spc="9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698" spc="52" dirty="0">
                <a:solidFill>
                  <a:srgbClr val="343434"/>
                </a:solidFill>
                <a:latin typeface="Calibri"/>
                <a:cs typeface="Calibri"/>
              </a:rPr>
              <a:t>цель:</a:t>
            </a:r>
            <a:r>
              <a:rPr sz="1698" spc="64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698" spc="82" dirty="0">
                <a:solidFill>
                  <a:srgbClr val="343434"/>
                </a:solidFill>
                <a:latin typeface="Calibri"/>
                <a:cs typeface="Calibri"/>
              </a:rPr>
              <a:t>Добиться</a:t>
            </a:r>
            <a:r>
              <a:rPr sz="1698" spc="143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698" spc="58" dirty="0">
                <a:solidFill>
                  <a:srgbClr val="3A3A3A"/>
                </a:solidFill>
                <a:latin typeface="Calibri"/>
                <a:cs typeface="Calibri"/>
              </a:rPr>
              <a:t>сокращения</a:t>
            </a:r>
            <a:r>
              <a:rPr sz="1698" spc="179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698" spc="42" dirty="0">
                <a:solidFill>
                  <a:srgbClr val="3D3D3D"/>
                </a:solidFill>
                <a:latin typeface="Calibri"/>
                <a:cs typeface="Calibri"/>
              </a:rPr>
              <a:t>времени</a:t>
            </a:r>
            <a:r>
              <a:rPr sz="1698" spc="16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698" spc="73" dirty="0">
                <a:solidFill>
                  <a:srgbClr val="363636"/>
                </a:solidFill>
                <a:latin typeface="Calibri"/>
                <a:cs typeface="Calibri"/>
              </a:rPr>
              <a:t>создания </a:t>
            </a:r>
            <a:r>
              <a:rPr sz="1698" spc="69" dirty="0">
                <a:solidFill>
                  <a:srgbClr val="383838"/>
                </a:solidFill>
                <a:latin typeface="Calibri"/>
                <a:cs typeface="Calibri"/>
              </a:rPr>
              <a:t>персонажа</a:t>
            </a:r>
            <a:r>
              <a:rPr sz="1698" spc="17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698" dirty="0">
                <a:solidFill>
                  <a:srgbClr val="363636"/>
                </a:solidFill>
                <a:latin typeface="Calibri"/>
                <a:cs typeface="Calibri"/>
              </a:rPr>
              <a:t>минимум</a:t>
            </a:r>
            <a:r>
              <a:rPr sz="1698" spc="133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698" dirty="0">
                <a:solidFill>
                  <a:srgbClr val="3B3B3B"/>
                </a:solidFill>
                <a:latin typeface="Calibri"/>
                <a:cs typeface="Calibri"/>
              </a:rPr>
              <a:t>на</a:t>
            </a:r>
            <a:r>
              <a:rPr sz="1698" spc="154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98" dirty="0">
                <a:solidFill>
                  <a:srgbClr val="3F3F3F"/>
                </a:solidFill>
                <a:latin typeface="Calibri"/>
                <a:cs typeface="Calibri"/>
              </a:rPr>
              <a:t>90%</a:t>
            </a:r>
            <a:r>
              <a:rPr sz="1698" spc="36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698" dirty="0">
                <a:solidFill>
                  <a:srgbClr val="444444"/>
                </a:solidFill>
                <a:latin typeface="Calibri"/>
                <a:cs typeface="Calibri"/>
              </a:rPr>
              <a:t>(с</a:t>
            </a:r>
            <a:r>
              <a:rPr sz="1698" spc="25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98" spc="30" dirty="0">
                <a:solidFill>
                  <a:srgbClr val="3F3F3F"/>
                </a:solidFill>
                <a:latin typeface="Calibri"/>
                <a:cs typeface="Calibri"/>
              </a:rPr>
              <a:t>20</a:t>
            </a:r>
            <a:r>
              <a:rPr sz="1698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698" dirty="0">
                <a:solidFill>
                  <a:srgbClr val="383838"/>
                </a:solidFill>
                <a:latin typeface="Calibri"/>
                <a:cs typeface="Calibri"/>
              </a:rPr>
              <a:t>минут</a:t>
            </a:r>
            <a:r>
              <a:rPr sz="1698" spc="188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698" dirty="0">
                <a:solidFill>
                  <a:srgbClr val="3B3B3B"/>
                </a:solidFill>
                <a:latin typeface="Calibri"/>
                <a:cs typeface="Calibri"/>
              </a:rPr>
              <a:t>до</a:t>
            </a:r>
            <a:r>
              <a:rPr sz="1698" spc="109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98" spc="27" dirty="0">
                <a:solidFill>
                  <a:srgbClr val="3F3F3F"/>
                </a:solidFill>
                <a:latin typeface="Calibri"/>
                <a:cs typeface="Calibri"/>
              </a:rPr>
              <a:t>5 </a:t>
            </a:r>
            <a:r>
              <a:rPr sz="1698" spc="42" dirty="0">
                <a:solidFill>
                  <a:srgbClr val="343434"/>
                </a:solidFill>
                <a:latin typeface="Calibri"/>
                <a:cs typeface="Calibri"/>
              </a:rPr>
              <a:t>секунд).</a:t>
            </a:r>
            <a:endParaRPr sz="1698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1368" y="5094563"/>
            <a:ext cx="1158274" cy="22283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1400" b="1" spc="-69" dirty="0">
                <a:solidFill>
                  <a:srgbClr val="0C0C0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Исследование</a:t>
            </a:r>
            <a:endParaRPr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37501" y="5104484"/>
            <a:ext cx="1439743" cy="223617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>
              <a:spcBef>
                <a:spcPts val="69"/>
              </a:spcBef>
            </a:pPr>
            <a:r>
              <a:rPr sz="1395" b="1" spc="45" dirty="0">
                <a:latin typeface="Calibri"/>
                <a:cs typeface="Calibri"/>
              </a:rPr>
              <a:t>Архитектура</a:t>
            </a:r>
            <a:r>
              <a:rPr sz="1395" b="1" spc="69" dirty="0">
                <a:latin typeface="Calibri"/>
                <a:cs typeface="Calibri"/>
              </a:rPr>
              <a:t> </a:t>
            </a:r>
            <a:r>
              <a:rPr sz="1395" b="1" spc="39" dirty="0">
                <a:solidFill>
                  <a:srgbClr val="131313"/>
                </a:solidFill>
                <a:latin typeface="Calibri"/>
                <a:cs typeface="Calibri"/>
              </a:rPr>
              <a:t>БД</a:t>
            </a:r>
            <a:endParaRPr sz="1395" b="1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01914" y="5104484"/>
            <a:ext cx="1636692" cy="223617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>
              <a:spcBef>
                <a:spcPts val="69"/>
              </a:spcBef>
            </a:pPr>
            <a:r>
              <a:rPr sz="1395" b="1" spc="67" dirty="0" err="1">
                <a:solidFill>
                  <a:srgbClr val="0E0E0E"/>
                </a:solidFill>
                <a:latin typeface="Calibri"/>
                <a:cs typeface="Calibri"/>
              </a:rPr>
              <a:t>Разработка</a:t>
            </a:r>
            <a:endParaRPr sz="1395" b="1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63276" y="5114405"/>
            <a:ext cx="1235650" cy="222442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>
              <a:spcBef>
                <a:spcPts val="55"/>
              </a:spcBef>
            </a:pPr>
            <a:r>
              <a:rPr sz="1400" b="1" spc="103" dirty="0">
                <a:solidFill>
                  <a:srgbClr val="111111"/>
                </a:solidFill>
                <a:latin typeface="Calibri"/>
                <a:cs typeface="Calibri"/>
              </a:rPr>
              <a:t>Запуск</a:t>
            </a:r>
            <a:r>
              <a:rPr sz="1400" b="1" spc="12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400" b="1" spc="121" dirty="0">
                <a:solidFill>
                  <a:srgbClr val="181818"/>
                </a:solidFill>
                <a:latin typeface="Calibri"/>
                <a:cs typeface="Calibri"/>
              </a:rPr>
              <a:t>и</a:t>
            </a:r>
            <a:r>
              <a:rPr sz="1400" b="1" spc="-82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400" b="1" spc="85" dirty="0">
                <a:solidFill>
                  <a:srgbClr val="161616"/>
                </a:solidFill>
                <a:latin typeface="Calibri"/>
                <a:cs typeface="Calibri"/>
              </a:rPr>
              <a:t>тест</a:t>
            </a:r>
            <a:endParaRPr sz="1400" b="1" dirty="0">
              <a:latin typeface="Calibri"/>
              <a:cs typeface="Calibri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2B01996-D3AE-45EC-BF84-CAD99EEFF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787" y="3931415"/>
            <a:ext cx="1271436" cy="101855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E7A4D18-0E01-431E-842D-EF9810927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847" y="3931413"/>
            <a:ext cx="1577925" cy="101855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8895863-DCB6-4D19-869C-4207B5C23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045" y="4181735"/>
            <a:ext cx="1529603" cy="91282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6B82AAF-BA7B-43FF-8306-603BB95A9D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138" y="4079339"/>
            <a:ext cx="1577925" cy="11142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888" y="1495320"/>
            <a:ext cx="61908" cy="478121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90936" y="1073868"/>
            <a:ext cx="11048273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D42328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/>
          <p:nvPr/>
        </p:nvSpPr>
        <p:spPr>
          <a:xfrm>
            <a:off x="428" y="0"/>
            <a:ext cx="12191144" cy="76243"/>
          </a:xfrm>
          <a:custGeom>
            <a:avLst/>
            <a:gdLst/>
            <a:ahLst/>
            <a:cxnLst/>
            <a:rect l="l" t="t" r="r" b="b"/>
            <a:pathLst>
              <a:path w="20104100" h="125730">
                <a:moveTo>
                  <a:pt x="0" y="0"/>
                </a:moveTo>
                <a:lnTo>
                  <a:pt x="20104101" y="0"/>
                </a:lnTo>
                <a:lnTo>
                  <a:pt x="20104101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21F1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8713" y="418180"/>
            <a:ext cx="5383203" cy="525532"/>
          </a:xfrm>
          <a:prstGeom prst="rect">
            <a:avLst/>
          </a:prstGeom>
        </p:spPr>
        <p:txBody>
          <a:bodyPr vert="horz" wrap="square" lIns="0" tIns="215649" rIns="0" bIns="0" rtlCol="0" anchor="ctr">
            <a:spAutoFit/>
          </a:bodyPr>
          <a:lstStyle/>
          <a:p>
            <a:pPr marL="13092">
              <a:lnSpc>
                <a:spcPct val="100000"/>
              </a:lnSpc>
              <a:spcBef>
                <a:spcPts val="61"/>
              </a:spcBef>
            </a:pPr>
            <a:r>
              <a:rPr sz="2000" spc="258" dirty="0">
                <a:solidFill>
                  <a:srgbClr val="EB1C26"/>
                </a:solidFill>
                <a:latin typeface="Calibri"/>
                <a:cs typeface="Calibri"/>
              </a:rPr>
              <a:t>ЦЕЛЕВАЯ</a:t>
            </a:r>
            <a:r>
              <a:rPr sz="2000" spc="146" dirty="0">
                <a:solidFill>
                  <a:srgbClr val="EB1C26"/>
                </a:solidFill>
                <a:latin typeface="Calibri"/>
                <a:cs typeface="Calibri"/>
              </a:rPr>
              <a:t> </a:t>
            </a:r>
            <a:r>
              <a:rPr sz="2000" spc="209" dirty="0">
                <a:solidFill>
                  <a:srgbClr val="E81C23"/>
                </a:solidFill>
                <a:latin typeface="Calibri"/>
                <a:cs typeface="Calibri"/>
              </a:rPr>
              <a:t>АУДИТОРИЯ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93722" y="1495320"/>
            <a:ext cx="6234745" cy="274714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sz="2400" spc="76" dirty="0"/>
              <a:t>Сегменты</a:t>
            </a:r>
            <a:r>
              <a:rPr sz="2400" spc="103" dirty="0"/>
              <a:t> </a:t>
            </a:r>
            <a:r>
              <a:rPr sz="2400" spc="76" dirty="0">
                <a:solidFill>
                  <a:srgbClr val="F21D16"/>
                </a:solidFill>
              </a:rPr>
              <a:t>ЦА</a:t>
            </a:r>
          </a:p>
          <a:p>
            <a:pPr marL="392380" indent="-211785">
              <a:lnSpc>
                <a:spcPct val="100000"/>
              </a:lnSpc>
              <a:spcBef>
                <a:spcPts val="2185"/>
              </a:spcBef>
              <a:buClr>
                <a:srgbClr val="494949"/>
              </a:buClr>
              <a:tabLst>
                <a:tab pos="392380" algn="l"/>
              </a:tabLst>
            </a:pPr>
            <a:r>
              <a:rPr sz="1600" dirty="0">
                <a:solidFill>
                  <a:srgbClr val="363636"/>
                </a:solidFill>
              </a:rPr>
              <a:t>Гейм-мастера</a:t>
            </a:r>
            <a:r>
              <a:rPr sz="1600" spc="85" dirty="0">
                <a:solidFill>
                  <a:srgbClr val="363636"/>
                </a:solidFill>
              </a:rPr>
              <a:t> </a:t>
            </a:r>
            <a:r>
              <a:rPr sz="1600" spc="-106" dirty="0">
                <a:solidFill>
                  <a:srgbClr val="3D3D3D"/>
                </a:solidFill>
              </a:rPr>
              <a:t>(D&amp;D,</a:t>
            </a:r>
            <a:r>
              <a:rPr sz="1600" spc="-6" dirty="0">
                <a:solidFill>
                  <a:srgbClr val="3D3D3D"/>
                </a:solidFill>
              </a:rPr>
              <a:t> </a:t>
            </a:r>
            <a:r>
              <a:rPr sz="1600" spc="-18" dirty="0">
                <a:solidFill>
                  <a:srgbClr val="333333"/>
                </a:solidFill>
              </a:rPr>
              <a:t>Pathfinder)</a:t>
            </a:r>
            <a:r>
              <a:rPr sz="1600" spc="215" dirty="0">
                <a:solidFill>
                  <a:srgbClr val="333333"/>
                </a:solidFill>
              </a:rPr>
              <a:t> </a:t>
            </a:r>
            <a:r>
              <a:rPr sz="1600" spc="-358" dirty="0">
                <a:solidFill>
                  <a:srgbClr val="494949"/>
                </a:solidFill>
              </a:rPr>
              <a:t>—</a:t>
            </a:r>
            <a:r>
              <a:rPr sz="1600" spc="39" dirty="0">
                <a:solidFill>
                  <a:srgbClr val="494949"/>
                </a:solidFill>
              </a:rPr>
              <a:t> </a:t>
            </a:r>
            <a:r>
              <a:rPr sz="1600" dirty="0">
                <a:solidFill>
                  <a:srgbClr val="363636"/>
                </a:solidFill>
              </a:rPr>
              <a:t>для</a:t>
            </a:r>
            <a:r>
              <a:rPr sz="1600" spc="6" dirty="0">
                <a:solidFill>
                  <a:srgbClr val="363636"/>
                </a:solidFill>
              </a:rPr>
              <a:t> </a:t>
            </a:r>
            <a:r>
              <a:rPr sz="1600" dirty="0">
                <a:solidFill>
                  <a:srgbClr val="3A3A3A"/>
                </a:solidFill>
              </a:rPr>
              <a:t>быстрого</a:t>
            </a:r>
            <a:r>
              <a:rPr sz="1600" spc="149" dirty="0">
                <a:solidFill>
                  <a:srgbClr val="3A3A3A"/>
                </a:solidFill>
              </a:rPr>
              <a:t> </a:t>
            </a:r>
            <a:r>
              <a:rPr sz="1600" dirty="0">
                <a:solidFill>
                  <a:srgbClr val="3B3B3B"/>
                </a:solidFill>
              </a:rPr>
              <a:t>наполнения</a:t>
            </a:r>
            <a:r>
              <a:rPr sz="1600" spc="130" dirty="0">
                <a:solidFill>
                  <a:srgbClr val="3B3B3B"/>
                </a:solidFill>
              </a:rPr>
              <a:t> </a:t>
            </a:r>
            <a:r>
              <a:rPr sz="1600" spc="-6" dirty="0">
                <a:solidFill>
                  <a:srgbClr val="3B3B3B"/>
                </a:solidFill>
              </a:rPr>
              <a:t>мира</a:t>
            </a:r>
            <a:r>
              <a:rPr sz="1600" spc="-3" dirty="0">
                <a:solidFill>
                  <a:srgbClr val="3B3B3B"/>
                </a:solidFill>
              </a:rPr>
              <a:t> </a:t>
            </a:r>
            <a:r>
              <a:rPr sz="1600" dirty="0">
                <a:solidFill>
                  <a:srgbClr val="3A3A3A"/>
                </a:solidFill>
              </a:rPr>
              <a:t>уникальными</a:t>
            </a:r>
            <a:r>
              <a:rPr sz="1600" spc="154" dirty="0">
                <a:solidFill>
                  <a:srgbClr val="3A3A3A"/>
                </a:solidFill>
              </a:rPr>
              <a:t> </a:t>
            </a:r>
            <a:r>
              <a:rPr sz="1600" spc="45" dirty="0">
                <a:solidFill>
                  <a:srgbClr val="3B3B3B"/>
                </a:solidFill>
              </a:rPr>
              <a:t>NPC.</a:t>
            </a:r>
            <a:endParaRPr sz="1600" dirty="0"/>
          </a:p>
          <a:p>
            <a:pPr marL="392380" indent="-211785">
              <a:lnSpc>
                <a:spcPct val="100000"/>
              </a:lnSpc>
              <a:spcBef>
                <a:spcPts val="327"/>
              </a:spcBef>
              <a:buClr>
                <a:srgbClr val="494949"/>
              </a:buClr>
              <a:tabLst>
                <a:tab pos="392380" algn="l"/>
              </a:tabLst>
            </a:pPr>
            <a:r>
              <a:rPr sz="1600" spc="58" dirty="0">
                <a:solidFill>
                  <a:srgbClr val="3A3A3A"/>
                </a:solidFill>
              </a:rPr>
              <a:t>Писатели-</a:t>
            </a:r>
            <a:r>
              <a:rPr sz="1600" spc="61" dirty="0">
                <a:solidFill>
                  <a:srgbClr val="3A3A3A"/>
                </a:solidFill>
              </a:rPr>
              <a:t>фантасты</a:t>
            </a:r>
            <a:r>
              <a:rPr sz="1600" spc="-124" dirty="0">
                <a:solidFill>
                  <a:srgbClr val="3A3A3A"/>
                </a:solidFill>
              </a:rPr>
              <a:t> </a:t>
            </a:r>
            <a:r>
              <a:rPr sz="1600" spc="-358" dirty="0">
                <a:solidFill>
                  <a:srgbClr val="3A3A3A"/>
                </a:solidFill>
              </a:rPr>
              <a:t>—</a:t>
            </a:r>
            <a:r>
              <a:rPr sz="1600" spc="64" dirty="0">
                <a:solidFill>
                  <a:srgbClr val="3A3A3A"/>
                </a:solidFill>
              </a:rPr>
              <a:t> </a:t>
            </a:r>
            <a:r>
              <a:rPr sz="1600" dirty="0">
                <a:solidFill>
                  <a:srgbClr val="343434"/>
                </a:solidFill>
              </a:rPr>
              <a:t>для</a:t>
            </a:r>
            <a:r>
              <a:rPr sz="1600" spc="82" dirty="0">
                <a:solidFill>
                  <a:srgbClr val="343434"/>
                </a:solidFill>
              </a:rPr>
              <a:t> </a:t>
            </a:r>
            <a:r>
              <a:rPr sz="1600" dirty="0">
                <a:solidFill>
                  <a:srgbClr val="3F3F3F"/>
                </a:solidFill>
              </a:rPr>
              <a:t>мгновенного</a:t>
            </a:r>
            <a:r>
              <a:rPr sz="1600" spc="233" dirty="0">
                <a:solidFill>
                  <a:srgbClr val="3F3F3F"/>
                </a:solidFill>
              </a:rPr>
              <a:t> </a:t>
            </a:r>
            <a:r>
              <a:rPr sz="1600" dirty="0">
                <a:solidFill>
                  <a:srgbClr val="3B3B3B"/>
                </a:solidFill>
              </a:rPr>
              <a:t>построения</a:t>
            </a:r>
            <a:r>
              <a:rPr sz="1600" spc="158" dirty="0">
                <a:solidFill>
                  <a:srgbClr val="3B3B3B"/>
                </a:solidFill>
              </a:rPr>
              <a:t> </a:t>
            </a:r>
            <a:r>
              <a:rPr sz="1600" dirty="0">
                <a:solidFill>
                  <a:srgbClr val="3D3D3D"/>
                </a:solidFill>
              </a:rPr>
              <a:t>профилей</a:t>
            </a:r>
            <a:r>
              <a:rPr sz="1600" spc="218" dirty="0">
                <a:solidFill>
                  <a:srgbClr val="3D3D3D"/>
                </a:solidFill>
              </a:rPr>
              <a:t> </a:t>
            </a:r>
            <a:r>
              <a:rPr sz="1600" spc="49" dirty="0">
                <a:solidFill>
                  <a:srgbClr val="3D3D3D"/>
                </a:solidFill>
              </a:rPr>
              <a:t>второстепенных</a:t>
            </a:r>
            <a:r>
              <a:rPr sz="1600" spc="-91" dirty="0">
                <a:solidFill>
                  <a:srgbClr val="3D3D3D"/>
                </a:solidFill>
              </a:rPr>
              <a:t> </a:t>
            </a:r>
            <a:r>
              <a:rPr sz="1600" spc="-6" dirty="0">
                <a:solidFill>
                  <a:srgbClr val="3B3B3B"/>
                </a:solidFill>
              </a:rPr>
              <a:t>героев.</a:t>
            </a:r>
            <a:endParaRPr sz="1600" dirty="0"/>
          </a:p>
          <a:p>
            <a:pPr marL="392380" indent="-211785">
              <a:lnSpc>
                <a:spcPct val="100000"/>
              </a:lnSpc>
              <a:spcBef>
                <a:spcPts val="330"/>
              </a:spcBef>
              <a:buClr>
                <a:srgbClr val="424242"/>
              </a:buClr>
              <a:tabLst>
                <a:tab pos="392380" algn="l"/>
              </a:tabLst>
            </a:pPr>
            <a:r>
              <a:rPr sz="1600" dirty="0">
                <a:solidFill>
                  <a:srgbClr val="3B3B3B"/>
                </a:solidFill>
              </a:rPr>
              <a:t>Игроки</a:t>
            </a:r>
            <a:r>
              <a:rPr sz="1600" spc="149" dirty="0">
                <a:solidFill>
                  <a:srgbClr val="3B3B3B"/>
                </a:solidFill>
              </a:rPr>
              <a:t> </a:t>
            </a:r>
            <a:r>
              <a:rPr sz="1600" spc="45" dirty="0">
                <a:solidFill>
                  <a:srgbClr val="363636"/>
                </a:solidFill>
              </a:rPr>
              <a:t>текстовых</a:t>
            </a:r>
            <a:r>
              <a:rPr sz="1600" spc="176" dirty="0">
                <a:solidFill>
                  <a:srgbClr val="363636"/>
                </a:solidFill>
              </a:rPr>
              <a:t> </a:t>
            </a:r>
            <a:r>
              <a:rPr sz="1600" dirty="0">
                <a:solidFill>
                  <a:srgbClr val="363636"/>
                </a:solidFill>
              </a:rPr>
              <a:t>ролевых</a:t>
            </a:r>
            <a:r>
              <a:rPr sz="1600" spc="106" dirty="0">
                <a:solidFill>
                  <a:srgbClr val="363636"/>
                </a:solidFill>
              </a:rPr>
              <a:t> </a:t>
            </a:r>
            <a:r>
              <a:rPr sz="1600" dirty="0">
                <a:solidFill>
                  <a:srgbClr val="3B3B3B"/>
                </a:solidFill>
              </a:rPr>
              <a:t>игр</a:t>
            </a:r>
            <a:r>
              <a:rPr sz="1600" spc="-33" dirty="0">
                <a:solidFill>
                  <a:srgbClr val="3B3B3B"/>
                </a:solidFill>
              </a:rPr>
              <a:t> </a:t>
            </a:r>
            <a:r>
              <a:rPr sz="1600" spc="-358" dirty="0">
                <a:solidFill>
                  <a:srgbClr val="484848"/>
                </a:solidFill>
              </a:rPr>
              <a:t>—</a:t>
            </a:r>
            <a:r>
              <a:rPr sz="1600" spc="55" dirty="0">
                <a:solidFill>
                  <a:srgbClr val="484848"/>
                </a:solidFill>
              </a:rPr>
              <a:t> </a:t>
            </a:r>
            <a:r>
              <a:rPr sz="1600" dirty="0">
                <a:solidFill>
                  <a:srgbClr val="3F3F3F"/>
                </a:solidFill>
              </a:rPr>
              <a:t>для</a:t>
            </a:r>
            <a:r>
              <a:rPr sz="1600" spc="42" dirty="0">
                <a:solidFill>
                  <a:srgbClr val="3F3F3F"/>
                </a:solidFill>
              </a:rPr>
              <a:t> </a:t>
            </a:r>
            <a:r>
              <a:rPr sz="1600" dirty="0">
                <a:solidFill>
                  <a:srgbClr val="3A3A3A"/>
                </a:solidFill>
              </a:rPr>
              <a:t>оперативной</a:t>
            </a:r>
            <a:r>
              <a:rPr sz="1600" spc="173" dirty="0">
                <a:solidFill>
                  <a:srgbClr val="3A3A3A"/>
                </a:solidFill>
              </a:rPr>
              <a:t> </a:t>
            </a:r>
            <a:r>
              <a:rPr sz="1600" dirty="0">
                <a:solidFill>
                  <a:srgbClr val="363636"/>
                </a:solidFill>
              </a:rPr>
              <a:t>генерации</a:t>
            </a:r>
            <a:r>
              <a:rPr sz="1600" spc="212" dirty="0">
                <a:solidFill>
                  <a:srgbClr val="363636"/>
                </a:solidFill>
              </a:rPr>
              <a:t> </a:t>
            </a:r>
            <a:r>
              <a:rPr sz="1600" spc="-6" dirty="0">
                <a:solidFill>
                  <a:srgbClr val="3F3F3F"/>
                </a:solidFill>
              </a:rPr>
              <a:t>анкет.</a:t>
            </a:r>
            <a:endParaRPr sz="1600" dirty="0"/>
          </a:p>
          <a:p>
            <a:pPr marL="387759" indent="-207164">
              <a:lnSpc>
                <a:spcPct val="100000"/>
              </a:lnSpc>
              <a:spcBef>
                <a:spcPts val="327"/>
              </a:spcBef>
              <a:buClr>
                <a:srgbClr val="444444"/>
              </a:buClr>
              <a:tabLst>
                <a:tab pos="387759" algn="l"/>
                <a:tab pos="3227992" algn="l"/>
              </a:tabLst>
            </a:pPr>
            <a:r>
              <a:rPr sz="1600" dirty="0">
                <a:solidFill>
                  <a:srgbClr val="333333"/>
                </a:solidFill>
              </a:rPr>
              <a:t>Разработчики</a:t>
            </a:r>
            <a:r>
              <a:rPr sz="1600" spc="243" dirty="0">
                <a:solidFill>
                  <a:srgbClr val="333333"/>
                </a:solidFill>
              </a:rPr>
              <a:t> </a:t>
            </a:r>
            <a:r>
              <a:rPr sz="1600" spc="-6" dirty="0">
                <a:solidFill>
                  <a:srgbClr val="3A3A3A"/>
                </a:solidFill>
              </a:rPr>
              <a:t>инди-</a:t>
            </a:r>
            <a:r>
              <a:rPr sz="1600" dirty="0">
                <a:solidFill>
                  <a:srgbClr val="3A3A3A"/>
                </a:solidFill>
              </a:rPr>
              <a:t>RРG</a:t>
            </a:r>
            <a:r>
              <a:rPr sz="1600" spc="164" dirty="0">
                <a:solidFill>
                  <a:srgbClr val="3A3A3A"/>
                </a:solidFill>
              </a:rPr>
              <a:t> </a:t>
            </a:r>
            <a:r>
              <a:rPr sz="1600" spc="-358" dirty="0">
                <a:solidFill>
                  <a:srgbClr val="444444"/>
                </a:solidFill>
              </a:rPr>
              <a:t>—</a:t>
            </a:r>
            <a:r>
              <a:rPr sz="1600" spc="52" dirty="0">
                <a:solidFill>
                  <a:srgbClr val="444444"/>
                </a:solidFill>
              </a:rPr>
              <a:t> </a:t>
            </a:r>
            <a:r>
              <a:rPr sz="1600" spc="-221" dirty="0">
                <a:solidFill>
                  <a:srgbClr val="3F3F3F"/>
                </a:solidFill>
              </a:rPr>
              <a:t>в</a:t>
            </a:r>
            <a:r>
              <a:rPr sz="1600" dirty="0">
                <a:solidFill>
                  <a:srgbClr val="3F3F3F"/>
                </a:solidFill>
              </a:rPr>
              <a:t>	</a:t>
            </a:r>
            <a:r>
              <a:rPr sz="1600" spc="55" dirty="0">
                <a:solidFill>
                  <a:srgbClr val="3B3B3B"/>
                </a:solidFill>
              </a:rPr>
              <a:t>качестве</a:t>
            </a:r>
            <a:r>
              <a:rPr sz="1600" spc="42" dirty="0">
                <a:solidFill>
                  <a:srgbClr val="3B3B3B"/>
                </a:solidFill>
              </a:rPr>
              <a:t> </a:t>
            </a:r>
            <a:r>
              <a:rPr sz="1600" dirty="0">
                <a:solidFill>
                  <a:srgbClr val="3A3A3A"/>
                </a:solidFill>
              </a:rPr>
              <a:t>базы</a:t>
            </a:r>
            <a:r>
              <a:rPr sz="1600" spc="-3" dirty="0">
                <a:solidFill>
                  <a:srgbClr val="3A3A3A"/>
                </a:solidFill>
              </a:rPr>
              <a:t> </a:t>
            </a:r>
            <a:r>
              <a:rPr sz="1600" dirty="0">
                <a:solidFill>
                  <a:srgbClr val="3F3F3F"/>
                </a:solidFill>
              </a:rPr>
              <a:t>для</a:t>
            </a:r>
            <a:r>
              <a:rPr sz="1600" spc="-42" dirty="0">
                <a:solidFill>
                  <a:srgbClr val="3F3F3F"/>
                </a:solidFill>
              </a:rPr>
              <a:t> </a:t>
            </a:r>
            <a:r>
              <a:rPr sz="1600" spc="-6" dirty="0">
                <a:solidFill>
                  <a:srgbClr val="3A3A3A"/>
                </a:solidFill>
              </a:rPr>
              <a:t>процедурной</a:t>
            </a:r>
            <a:r>
              <a:rPr sz="1600" spc="100" dirty="0">
                <a:solidFill>
                  <a:srgbClr val="3A3A3A"/>
                </a:solidFill>
              </a:rPr>
              <a:t> </a:t>
            </a:r>
            <a:r>
              <a:rPr sz="1600" dirty="0">
                <a:solidFill>
                  <a:srgbClr val="383838"/>
                </a:solidFill>
              </a:rPr>
              <a:t>генерации</a:t>
            </a:r>
            <a:r>
              <a:rPr sz="1600" spc="109" dirty="0">
                <a:solidFill>
                  <a:srgbClr val="383838"/>
                </a:solidFill>
              </a:rPr>
              <a:t> </a:t>
            </a:r>
            <a:r>
              <a:rPr sz="1600" spc="-6" dirty="0">
                <a:solidFill>
                  <a:srgbClr val="3A3A3A"/>
                </a:solidFill>
              </a:rPr>
              <a:t>персонажей.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616" y="1040665"/>
            <a:ext cx="76194" cy="529552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 flipV="1">
            <a:off x="590937" y="749993"/>
            <a:ext cx="9604030" cy="76243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D4232B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/>
          <p:nvPr/>
        </p:nvSpPr>
        <p:spPr>
          <a:xfrm>
            <a:off x="428" y="0"/>
            <a:ext cx="12191144" cy="76243"/>
          </a:xfrm>
          <a:custGeom>
            <a:avLst/>
            <a:gdLst/>
            <a:ahLst/>
            <a:cxnLst/>
            <a:rect l="l" t="t" r="r" b="b"/>
            <a:pathLst>
              <a:path w="20104100" h="125730">
                <a:moveTo>
                  <a:pt x="0" y="0"/>
                </a:moveTo>
                <a:lnTo>
                  <a:pt x="20104101" y="0"/>
                </a:lnTo>
                <a:lnTo>
                  <a:pt x="20104101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21F1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8713" y="521807"/>
            <a:ext cx="5383203" cy="318275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13092">
              <a:lnSpc>
                <a:spcPct val="100000"/>
              </a:lnSpc>
              <a:spcBef>
                <a:spcPts val="82"/>
              </a:spcBef>
            </a:pPr>
            <a:r>
              <a:rPr sz="2000" spc="194" dirty="0">
                <a:solidFill>
                  <a:srgbClr val="DB23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ПРОЕКТИРОВАНИЕ</a:t>
            </a:r>
            <a:r>
              <a:rPr sz="2000" spc="-109" dirty="0">
                <a:solidFill>
                  <a:srgbClr val="DB23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227" dirty="0">
                <a:solidFill>
                  <a:srgbClr val="DB21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sz="2000" spc="-133" dirty="0">
                <a:solidFill>
                  <a:srgbClr val="DB21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112" dirty="0">
                <a:solidFill>
                  <a:srgbClr val="DB23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АРХИТЕКТУРА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80578" y="1499986"/>
            <a:ext cx="4599981" cy="62595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indent="385">
              <a:lnSpc>
                <a:spcPct val="126000"/>
              </a:lnSpc>
              <a:spcBef>
                <a:spcPts val="58"/>
              </a:spcBef>
            </a:pPr>
            <a:r>
              <a:rPr sz="1637" spc="-293" dirty="0">
                <a:solidFill>
                  <a:srgbClr val="383838"/>
                </a:solidFill>
                <a:latin typeface="Lucida Sans Unicode"/>
                <a:cs typeface="Lucida Sans Unicode"/>
              </a:rPr>
              <a:t> </a:t>
            </a:r>
            <a:r>
              <a:rPr sz="1637" spc="-69" dirty="0">
                <a:solidFill>
                  <a:srgbClr val="3D3D3D"/>
                </a:solidFill>
                <a:latin typeface="Lucida Sans Unicode"/>
                <a:cs typeface="Lucida Sans Unicode"/>
              </a:rPr>
              <a:t>Генерация</a:t>
            </a:r>
            <a:r>
              <a:rPr sz="1637" spc="-49" dirty="0">
                <a:solidFill>
                  <a:srgbClr val="3D3D3D"/>
                </a:solidFill>
                <a:latin typeface="Lucida Sans Unicode"/>
                <a:cs typeface="Lucida Sans Unicode"/>
              </a:rPr>
              <a:t> </a:t>
            </a:r>
            <a:r>
              <a:rPr sz="1637" spc="-476" dirty="0">
                <a:solidFill>
                  <a:srgbClr val="424242"/>
                </a:solidFill>
                <a:latin typeface="Lucida Sans Unicode"/>
                <a:cs typeface="Lucida Sans Unicode"/>
              </a:rPr>
              <a:t>—</a:t>
            </a:r>
            <a:r>
              <a:rPr sz="1637" spc="-76" dirty="0">
                <a:solidFill>
                  <a:srgbClr val="424242"/>
                </a:solidFill>
                <a:latin typeface="Lucida Sans Unicode"/>
                <a:cs typeface="Lucida Sans Unicode"/>
              </a:rPr>
              <a:t> </a:t>
            </a:r>
            <a:r>
              <a:rPr sz="1637" spc="-36" dirty="0">
                <a:solidFill>
                  <a:srgbClr val="333333"/>
                </a:solidFill>
                <a:latin typeface="Lucida Sans Unicode"/>
                <a:cs typeface="Lucida Sans Unicode"/>
              </a:rPr>
              <a:t>алгоритмы</a:t>
            </a:r>
            <a:r>
              <a:rPr sz="1637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1637" spc="-39" dirty="0">
                <a:solidFill>
                  <a:srgbClr val="383838"/>
                </a:solidFill>
                <a:latin typeface="Lucida Sans Unicode"/>
                <a:cs typeface="Lucida Sans Unicode"/>
              </a:rPr>
              <a:t>случайного </a:t>
            </a:r>
            <a:r>
              <a:rPr sz="1637" spc="-97" dirty="0">
                <a:solidFill>
                  <a:srgbClr val="363636"/>
                </a:solidFill>
                <a:latin typeface="Lucida Sans Unicode"/>
                <a:cs typeface="Lucida Sans Unicode"/>
              </a:rPr>
              <a:t>подбора</a:t>
            </a:r>
            <a:r>
              <a:rPr sz="1637" spc="-33" dirty="0">
                <a:solidFill>
                  <a:srgbClr val="363636"/>
                </a:solidFill>
                <a:latin typeface="Lucida Sans Unicode"/>
                <a:cs typeface="Lucida Sans Unicode"/>
              </a:rPr>
              <a:t> </a:t>
            </a:r>
            <a:r>
              <a:rPr sz="1637" spc="-30" dirty="0">
                <a:solidFill>
                  <a:srgbClr val="414141"/>
                </a:solidFill>
                <a:latin typeface="Lucida Sans Unicode"/>
                <a:cs typeface="Lucida Sans Unicode"/>
              </a:rPr>
              <a:t>параметров</a:t>
            </a:r>
            <a:r>
              <a:rPr sz="1637" spc="-76" dirty="0">
                <a:solidFill>
                  <a:srgbClr val="414141"/>
                </a:solidFill>
                <a:latin typeface="Lucida Sans Unicode"/>
                <a:cs typeface="Lucida Sans Unicode"/>
              </a:rPr>
              <a:t> </a:t>
            </a:r>
            <a:r>
              <a:rPr sz="1637" spc="-24" dirty="0">
                <a:solidFill>
                  <a:srgbClr val="3B5667"/>
                </a:solidFill>
                <a:latin typeface="Lucida Sans Unicode"/>
                <a:cs typeface="Lucida Sans Unicode"/>
              </a:rPr>
              <a:t>и</a:t>
            </a:r>
            <a:r>
              <a:rPr sz="1637" spc="-146" dirty="0">
                <a:solidFill>
                  <a:srgbClr val="3B5667"/>
                </a:solidFill>
                <a:latin typeface="Lucida Sans Unicode"/>
                <a:cs typeface="Lucida Sans Unicode"/>
              </a:rPr>
              <a:t> </a:t>
            </a:r>
            <a:r>
              <a:rPr sz="1637" spc="-39" dirty="0">
                <a:solidFill>
                  <a:srgbClr val="363636"/>
                </a:solidFill>
                <a:latin typeface="Lucida Sans Unicode"/>
                <a:cs typeface="Lucida Sans Unicode"/>
              </a:rPr>
              <a:t>биографии.</a:t>
            </a:r>
            <a:endParaRPr sz="1637" dirty="0">
              <a:latin typeface="Lucida Sans Unicode"/>
              <a:cs typeface="Lucida Sans Unicode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2D510F4-B106-40E3-A90D-5A299D854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307" y="1597232"/>
            <a:ext cx="5460941" cy="40918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004" y="2285840"/>
            <a:ext cx="480978" cy="64289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90936" y="1073868"/>
            <a:ext cx="11048273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D42328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/>
          <p:nvPr/>
        </p:nvSpPr>
        <p:spPr>
          <a:xfrm>
            <a:off x="428" y="0"/>
            <a:ext cx="12191144" cy="76243"/>
          </a:xfrm>
          <a:custGeom>
            <a:avLst/>
            <a:gdLst/>
            <a:ahLst/>
            <a:cxnLst/>
            <a:rect l="l" t="t" r="r" b="b"/>
            <a:pathLst>
              <a:path w="20104100" h="125730">
                <a:moveTo>
                  <a:pt x="0" y="0"/>
                </a:moveTo>
                <a:lnTo>
                  <a:pt x="20104101" y="0"/>
                </a:lnTo>
                <a:lnTo>
                  <a:pt x="20104101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21F1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5272" y="2238218"/>
            <a:ext cx="723849" cy="42859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08713" y="408356"/>
            <a:ext cx="5383203" cy="545179"/>
          </a:xfrm>
          <a:prstGeom prst="rect">
            <a:avLst/>
          </a:prstGeom>
        </p:spPr>
        <p:txBody>
          <a:bodyPr vert="horz" wrap="square" lIns="0" tIns="235106" rIns="0" bIns="0" rtlCol="0" anchor="ctr">
            <a:spAutoFit/>
          </a:bodyPr>
          <a:lstStyle/>
          <a:p>
            <a:pPr marL="19638">
              <a:lnSpc>
                <a:spcPct val="100000"/>
              </a:lnSpc>
              <a:spcBef>
                <a:spcPts val="58"/>
              </a:spcBef>
            </a:pPr>
            <a:r>
              <a:rPr sz="2000" spc="300" dirty="0">
                <a:solidFill>
                  <a:srgbClr val="DF1F1F"/>
                </a:solidFill>
                <a:latin typeface="Calibri"/>
                <a:cs typeface="Calibri"/>
              </a:rPr>
              <a:t>ТЕХНОЛОГИЧЕСКИЙ</a:t>
            </a:r>
            <a:r>
              <a:rPr sz="2000" spc="27" dirty="0">
                <a:solidFill>
                  <a:srgbClr val="DF1F1F"/>
                </a:solidFill>
                <a:latin typeface="Calibri"/>
                <a:cs typeface="Calibri"/>
              </a:rPr>
              <a:t> </a:t>
            </a:r>
            <a:r>
              <a:rPr sz="2000" spc="330" dirty="0">
                <a:solidFill>
                  <a:srgbClr val="DF282D"/>
                </a:solidFill>
                <a:latin typeface="Calibri"/>
                <a:cs typeface="Calibri"/>
              </a:rPr>
              <a:t>CTEK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0194" y="2866266"/>
            <a:ext cx="694656" cy="223617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>
              <a:spcBef>
                <a:spcPts val="69"/>
              </a:spcBef>
            </a:pPr>
            <a:r>
              <a:rPr sz="1395" spc="42" dirty="0">
                <a:solidFill>
                  <a:srgbClr val="0E0E0E"/>
                </a:solidFill>
                <a:latin typeface="Calibri"/>
                <a:cs typeface="Calibri"/>
              </a:rPr>
              <a:t>Python</a:t>
            </a:r>
            <a:r>
              <a:rPr sz="1395" spc="-58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395" spc="24" dirty="0">
                <a:solidFill>
                  <a:srgbClr val="161616"/>
                </a:solidFill>
                <a:latin typeface="Calibri"/>
                <a:cs typeface="Calibri"/>
              </a:rPr>
              <a:t>3</a:t>
            </a:r>
            <a:endParaRPr sz="1395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25217" y="3209538"/>
            <a:ext cx="529464" cy="212311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>
              <a:spcBef>
                <a:spcPts val="55"/>
              </a:spcBef>
            </a:pPr>
            <a:r>
              <a:rPr lang="en-US" sz="1334" spc="88" dirty="0">
                <a:solidFill>
                  <a:srgbClr val="050505"/>
                </a:solidFill>
                <a:latin typeface="Calibri"/>
                <a:cs typeface="Calibri"/>
              </a:rPr>
              <a:t>SQLite</a:t>
            </a:r>
            <a:endParaRPr sz="1334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02322" y="1411799"/>
            <a:ext cx="573361" cy="1802953"/>
          </a:xfrm>
          <a:prstGeom prst="rect">
            <a:avLst/>
          </a:prstGeom>
        </p:spPr>
        <p:txBody>
          <a:bodyPr vert="horz" wrap="square" lIns="0" tIns="459382" rIns="0" bIns="0" rtlCol="0">
            <a:spAutoFit/>
          </a:bodyPr>
          <a:lstStyle/>
          <a:p>
            <a:pPr marL="7701">
              <a:spcBef>
                <a:spcPts val="3617"/>
              </a:spcBef>
            </a:pPr>
            <a:r>
              <a:rPr sz="6640" spc="-1934" dirty="0">
                <a:solidFill>
                  <a:srgbClr val="E21D24"/>
                </a:solidFill>
                <a:latin typeface="Courier New"/>
                <a:cs typeface="Courier New"/>
              </a:rPr>
              <a:t>е*</a:t>
            </a:r>
            <a:endParaRPr sz="6640">
              <a:latin typeface="Courier New"/>
              <a:cs typeface="Courier New"/>
            </a:endParaRPr>
          </a:p>
          <a:p>
            <a:pPr marL="16173">
              <a:spcBef>
                <a:spcPts val="764"/>
              </a:spcBef>
            </a:pPr>
            <a:r>
              <a:rPr sz="1395" spc="30" dirty="0">
                <a:solidFill>
                  <a:srgbClr val="0C0C0C"/>
                </a:solidFill>
                <a:latin typeface="Calibri"/>
                <a:cs typeface="Calibri"/>
              </a:rPr>
              <a:t>Tkinter</a:t>
            </a:r>
            <a:endParaRPr sz="1395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76617" y="1411799"/>
            <a:ext cx="656920" cy="1802953"/>
          </a:xfrm>
          <a:prstGeom prst="rect">
            <a:avLst/>
          </a:prstGeom>
        </p:spPr>
        <p:txBody>
          <a:bodyPr vert="horz" wrap="square" lIns="0" tIns="459382" rIns="0" bIns="0" rtlCol="0">
            <a:spAutoFit/>
          </a:bodyPr>
          <a:lstStyle/>
          <a:p>
            <a:pPr marL="81249">
              <a:spcBef>
                <a:spcPts val="3617"/>
              </a:spcBef>
            </a:pPr>
            <a:r>
              <a:rPr sz="6640" spc="-30" dirty="0">
                <a:solidFill>
                  <a:srgbClr val="E21D24"/>
                </a:solidFill>
                <a:latin typeface="Courier New"/>
                <a:cs typeface="Courier New"/>
              </a:rPr>
              <a:t>Л</a:t>
            </a:r>
            <a:endParaRPr sz="6640">
              <a:latin typeface="Courier New"/>
              <a:cs typeface="Courier New"/>
            </a:endParaRPr>
          </a:p>
          <a:p>
            <a:pPr marL="7701">
              <a:spcBef>
                <a:spcPts val="764"/>
              </a:spcBef>
            </a:pPr>
            <a:r>
              <a:rPr sz="1395" spc="-30" dirty="0">
                <a:solidFill>
                  <a:srgbClr val="0F0F0F"/>
                </a:solidFill>
                <a:latin typeface="Lucida Sans Unicode"/>
                <a:cs typeface="Lucida Sans Unicode"/>
              </a:rPr>
              <a:t>Pygame</a:t>
            </a:r>
            <a:endParaRPr sz="1395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2660" y="4547706"/>
            <a:ext cx="9770628" cy="622108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14632" marR="3081" indent="-7316">
              <a:lnSpc>
                <a:spcPct val="115300"/>
              </a:lnSpc>
              <a:spcBef>
                <a:spcPts val="58"/>
              </a:spcBef>
              <a:tabLst>
                <a:tab pos="3157525" algn="l"/>
              </a:tabLst>
            </a:pPr>
            <a:r>
              <a:rPr sz="1789" dirty="0">
                <a:solidFill>
                  <a:srgbClr val="333333"/>
                </a:solidFill>
                <a:latin typeface="Calibri"/>
                <a:cs typeface="Calibri"/>
              </a:rPr>
              <a:t>Выбранный</a:t>
            </a:r>
            <a:r>
              <a:rPr sz="1789" spc="161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789" spc="61" dirty="0">
                <a:solidFill>
                  <a:srgbClr val="3D3D3D"/>
                </a:solidFill>
                <a:latin typeface="Calibri"/>
                <a:cs typeface="Calibri"/>
              </a:rPr>
              <a:t>стек</a:t>
            </a:r>
            <a:r>
              <a:rPr sz="1789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83838"/>
                </a:solidFill>
                <a:latin typeface="Calibri"/>
                <a:cs typeface="Calibri"/>
              </a:rPr>
              <a:t>обеспечивает</a:t>
            </a:r>
            <a:r>
              <a:rPr sz="1789" dirty="0">
                <a:solidFill>
                  <a:srgbClr val="383838"/>
                </a:solidFill>
                <a:latin typeface="Calibri"/>
                <a:cs typeface="Calibri"/>
              </a:rPr>
              <a:t>	</a:t>
            </a:r>
            <a:r>
              <a:rPr sz="1789" spc="-6" dirty="0">
                <a:solidFill>
                  <a:srgbClr val="3D3D3D"/>
                </a:solidFill>
                <a:latin typeface="Calibri"/>
                <a:cs typeface="Calibri"/>
              </a:rPr>
              <a:t>полную</a:t>
            </a:r>
            <a:r>
              <a:rPr sz="1789" spc="4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2F2F2F"/>
                </a:solidFill>
                <a:latin typeface="Calibri"/>
                <a:cs typeface="Calibri"/>
              </a:rPr>
              <a:t>автономность</a:t>
            </a:r>
            <a:r>
              <a:rPr sz="1789" spc="194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33333"/>
                </a:solidFill>
                <a:latin typeface="Calibri"/>
                <a:cs typeface="Calibri"/>
              </a:rPr>
              <a:t>приложения</a:t>
            </a:r>
            <a:r>
              <a:rPr sz="1789" spc="106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D3D3D"/>
                </a:solidFill>
                <a:latin typeface="Calibri"/>
                <a:cs typeface="Calibri"/>
              </a:rPr>
              <a:t>и</a:t>
            </a:r>
            <a:r>
              <a:rPr sz="1789" spc="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789" spc="33" dirty="0">
                <a:solidFill>
                  <a:srgbClr val="3B3B3B"/>
                </a:solidFill>
                <a:latin typeface="Calibri"/>
                <a:cs typeface="Calibri"/>
              </a:rPr>
              <a:t>высокую</a:t>
            </a:r>
            <a:r>
              <a:rPr sz="1789" spc="67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63636"/>
                </a:solidFill>
                <a:latin typeface="Calibri"/>
                <a:cs typeface="Calibri"/>
              </a:rPr>
              <a:t>скорость</a:t>
            </a:r>
            <a:r>
              <a:rPr sz="1789" spc="33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789" spc="45" dirty="0">
                <a:solidFill>
                  <a:srgbClr val="3A3A3A"/>
                </a:solidFill>
                <a:latin typeface="Calibri"/>
                <a:cs typeface="Calibri"/>
              </a:rPr>
              <a:t>работы</a:t>
            </a:r>
            <a:r>
              <a:rPr sz="1789" spc="6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789" spc="45" dirty="0">
                <a:solidFill>
                  <a:srgbClr val="3B3B3B"/>
                </a:solidFill>
                <a:latin typeface="Calibri"/>
                <a:cs typeface="Calibri"/>
              </a:rPr>
              <a:t>на </a:t>
            </a:r>
            <a:r>
              <a:rPr sz="1789" dirty="0">
                <a:solidFill>
                  <a:srgbClr val="343434"/>
                </a:solidFill>
                <a:latin typeface="Calibri"/>
                <a:cs typeface="Calibri"/>
              </a:rPr>
              <a:t>любых</a:t>
            </a:r>
            <a:r>
              <a:rPr sz="1789" spc="13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F3F3F"/>
                </a:solidFill>
                <a:latin typeface="Calibri"/>
                <a:cs typeface="Calibri"/>
              </a:rPr>
              <a:t>ОС</a:t>
            </a:r>
            <a:r>
              <a:rPr sz="1789" spc="12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F3F3F"/>
                </a:solidFill>
                <a:latin typeface="Calibri"/>
                <a:cs typeface="Calibri"/>
              </a:rPr>
              <a:t>без</a:t>
            </a:r>
            <a:r>
              <a:rPr sz="1789" spc="58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33333"/>
                </a:solidFill>
                <a:latin typeface="Calibri"/>
                <a:cs typeface="Calibri"/>
              </a:rPr>
              <a:t>сложной</a:t>
            </a:r>
            <a:r>
              <a:rPr sz="1789" spc="161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43434"/>
                </a:solidFill>
                <a:latin typeface="Calibri"/>
                <a:cs typeface="Calibri"/>
              </a:rPr>
              <a:t>установки.</a:t>
            </a:r>
            <a:endParaRPr sz="1789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412" y="2466802"/>
            <a:ext cx="5266955" cy="283825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90936" y="1073868"/>
            <a:ext cx="11048273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D42328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/>
          <p:nvPr/>
        </p:nvSpPr>
        <p:spPr>
          <a:xfrm>
            <a:off x="428" y="0"/>
            <a:ext cx="12191144" cy="76243"/>
          </a:xfrm>
          <a:custGeom>
            <a:avLst/>
            <a:gdLst/>
            <a:ahLst/>
            <a:cxnLst/>
            <a:rect l="l" t="t" r="r" b="b"/>
            <a:pathLst>
              <a:path w="20104100" h="125730">
                <a:moveTo>
                  <a:pt x="0" y="0"/>
                </a:moveTo>
                <a:lnTo>
                  <a:pt x="20104101" y="0"/>
                </a:lnTo>
                <a:lnTo>
                  <a:pt x="20104101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21F1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8713" y="408356"/>
            <a:ext cx="5383203" cy="545179"/>
          </a:xfrm>
          <a:prstGeom prst="rect">
            <a:avLst/>
          </a:prstGeom>
        </p:spPr>
        <p:txBody>
          <a:bodyPr vert="horz" wrap="square" lIns="0" tIns="235106" rIns="0" bIns="0" rtlCol="0" anchor="ctr">
            <a:spAutoFit/>
          </a:bodyPr>
          <a:lstStyle/>
          <a:p>
            <a:pPr marL="16173">
              <a:lnSpc>
                <a:spcPct val="100000"/>
              </a:lnSpc>
              <a:spcBef>
                <a:spcPts val="58"/>
              </a:spcBef>
            </a:pPr>
            <a:r>
              <a:rPr sz="2000" spc="343" dirty="0">
                <a:solidFill>
                  <a:srgbClr val="E2212D"/>
                </a:solidFill>
                <a:latin typeface="Calibri"/>
                <a:cs typeface="Calibri"/>
              </a:rPr>
              <a:t>АНАЛИЗ</a:t>
            </a:r>
            <a:r>
              <a:rPr sz="2000" spc="203" dirty="0">
                <a:solidFill>
                  <a:srgbClr val="E2212D"/>
                </a:solidFill>
                <a:latin typeface="Calibri"/>
                <a:cs typeface="Calibri"/>
              </a:rPr>
              <a:t> </a:t>
            </a:r>
            <a:r>
              <a:rPr sz="2000" spc="297" dirty="0">
                <a:solidFill>
                  <a:srgbClr val="EB1A1F"/>
                </a:solidFill>
                <a:latin typeface="Calibri"/>
                <a:cs typeface="Calibri"/>
              </a:rPr>
              <a:t>ТРЕНДОВ</a:t>
            </a:r>
            <a:r>
              <a:rPr sz="2000" spc="233" dirty="0">
                <a:solidFill>
                  <a:srgbClr val="EB1A1F"/>
                </a:solidFill>
                <a:latin typeface="Calibri"/>
                <a:cs typeface="Calibri"/>
              </a:rPr>
              <a:t> </a:t>
            </a:r>
            <a:r>
              <a:rPr sz="2000" spc="349" dirty="0">
                <a:solidFill>
                  <a:srgbClr val="E61D28"/>
                </a:solidFill>
                <a:latin typeface="Calibri"/>
                <a:cs typeface="Calibri"/>
              </a:rPr>
              <a:t>РЫНКА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19887" y="2607521"/>
            <a:ext cx="4946925" cy="1138693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698" spc="330" dirty="0">
                <a:solidFill>
                  <a:srgbClr val="E61628"/>
                </a:solidFill>
                <a:latin typeface="Calibri"/>
                <a:cs typeface="Calibri"/>
              </a:rPr>
              <a:t>W</a:t>
            </a:r>
            <a:r>
              <a:rPr sz="1698" spc="33" dirty="0">
                <a:solidFill>
                  <a:srgbClr val="E61628"/>
                </a:solidFill>
                <a:latin typeface="Calibri"/>
                <a:cs typeface="Calibri"/>
              </a:rPr>
              <a:t> </a:t>
            </a:r>
            <a:r>
              <a:rPr sz="1698" spc="139" dirty="0">
                <a:solidFill>
                  <a:srgbClr val="3D3D3D"/>
                </a:solidFill>
                <a:latin typeface="Calibri"/>
                <a:cs typeface="Calibri"/>
              </a:rPr>
              <a:t>Рост</a:t>
            </a:r>
            <a:r>
              <a:rPr sz="1698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698" spc="-6" dirty="0">
                <a:solidFill>
                  <a:srgbClr val="3B3B3B"/>
                </a:solidFill>
                <a:latin typeface="Calibri"/>
                <a:cs typeface="Calibri"/>
              </a:rPr>
              <a:t>D&amp;D</a:t>
            </a:r>
            <a:r>
              <a:rPr sz="1698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98" spc="69" dirty="0">
                <a:solidFill>
                  <a:srgbClr val="3D3D3D"/>
                </a:solidFill>
                <a:latin typeface="Calibri"/>
                <a:cs typeface="Calibri"/>
              </a:rPr>
              <a:t>комьюнити</a:t>
            </a:r>
            <a:r>
              <a:rPr sz="1698" spc="15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698" dirty="0">
                <a:solidFill>
                  <a:srgbClr val="383838"/>
                </a:solidFill>
                <a:latin typeface="Calibri"/>
                <a:cs typeface="Calibri"/>
              </a:rPr>
              <a:t>(+30%</a:t>
            </a:r>
            <a:r>
              <a:rPr sz="1698" spc="5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698" spc="33" dirty="0">
                <a:solidFill>
                  <a:srgbClr val="363636"/>
                </a:solidFill>
                <a:latin typeface="Calibri"/>
                <a:cs typeface="Calibri"/>
              </a:rPr>
              <a:t>ежегодно)</a:t>
            </a:r>
            <a:endParaRPr sz="1698">
              <a:latin typeface="Calibri"/>
              <a:cs typeface="Calibri"/>
            </a:endParaRPr>
          </a:p>
          <a:p>
            <a:pPr marL="7701" marR="3081">
              <a:lnSpc>
                <a:spcPct val="176700"/>
              </a:lnSpc>
              <a:tabLst>
                <a:tab pos="301120" algn="l"/>
              </a:tabLst>
            </a:pPr>
            <a:r>
              <a:rPr sz="1698" spc="42" dirty="0">
                <a:solidFill>
                  <a:srgbClr val="E61628"/>
                </a:solidFill>
                <a:latin typeface="Calibri"/>
                <a:cs typeface="Calibri"/>
              </a:rPr>
              <a:t>W</a:t>
            </a:r>
            <a:r>
              <a:rPr sz="1698" dirty="0">
                <a:solidFill>
                  <a:srgbClr val="E61628"/>
                </a:solidFill>
                <a:latin typeface="Calibri"/>
                <a:cs typeface="Calibri"/>
              </a:rPr>
              <a:t>	</a:t>
            </a:r>
            <a:r>
              <a:rPr sz="1698" spc="-376" dirty="0">
                <a:solidFill>
                  <a:srgbClr val="E61628"/>
                </a:solidFill>
                <a:latin typeface="Calibri"/>
                <a:cs typeface="Calibri"/>
              </a:rPr>
              <a:t> </a:t>
            </a:r>
            <a:r>
              <a:rPr sz="1698" dirty="0">
                <a:solidFill>
                  <a:srgbClr val="363636"/>
                </a:solidFill>
                <a:latin typeface="Calibri"/>
                <a:cs typeface="Calibri"/>
              </a:rPr>
              <a:t>Тренд</a:t>
            </a:r>
            <a:r>
              <a:rPr sz="1698" spc="69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698" dirty="0">
                <a:solidFill>
                  <a:srgbClr val="494949"/>
                </a:solidFill>
                <a:latin typeface="Calibri"/>
                <a:cs typeface="Calibri"/>
              </a:rPr>
              <a:t>на</a:t>
            </a:r>
            <a:r>
              <a:rPr sz="1698" spc="161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98" spc="64" dirty="0">
                <a:solidFill>
                  <a:srgbClr val="333333"/>
                </a:solidFill>
                <a:latin typeface="Calibri"/>
                <a:cs typeface="Calibri"/>
              </a:rPr>
              <a:t>локальное</a:t>
            </a:r>
            <a:r>
              <a:rPr sz="1698" spc="188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98" spc="39" dirty="0">
                <a:solidFill>
                  <a:srgbClr val="383838"/>
                </a:solidFill>
                <a:latin typeface="Calibri"/>
                <a:cs typeface="Calibri"/>
              </a:rPr>
              <a:t>хранение</a:t>
            </a:r>
            <a:r>
              <a:rPr sz="1698" spc="176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698" spc="52" dirty="0">
                <a:solidFill>
                  <a:srgbClr val="3B3B3B"/>
                </a:solidFill>
                <a:latin typeface="Calibri"/>
                <a:cs typeface="Calibri"/>
              </a:rPr>
              <a:t>данных</a:t>
            </a:r>
            <a:r>
              <a:rPr sz="1698" spc="152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98" spc="36" dirty="0">
                <a:solidFill>
                  <a:srgbClr val="3B3B3B"/>
                </a:solidFill>
                <a:latin typeface="Calibri"/>
                <a:cs typeface="Calibri"/>
              </a:rPr>
              <a:t>(Privacy) </a:t>
            </a:r>
            <a:r>
              <a:rPr sz="1698" spc="73" dirty="0">
                <a:solidFill>
                  <a:srgbClr val="E61628"/>
                </a:solidFill>
                <a:latin typeface="Calibri"/>
                <a:cs typeface="Calibri"/>
              </a:rPr>
              <a:t>W</a:t>
            </a:r>
            <a:r>
              <a:rPr sz="1698" dirty="0">
                <a:solidFill>
                  <a:srgbClr val="E61628"/>
                </a:solidFill>
                <a:latin typeface="Calibri"/>
                <a:cs typeface="Calibri"/>
              </a:rPr>
              <a:t>	</a:t>
            </a:r>
            <a:r>
              <a:rPr sz="1698" spc="79" dirty="0">
                <a:solidFill>
                  <a:srgbClr val="3B3B3B"/>
                </a:solidFill>
                <a:latin typeface="Calibri"/>
                <a:cs typeface="Calibri"/>
              </a:rPr>
              <a:t>Запрос </a:t>
            </a:r>
            <a:r>
              <a:rPr sz="1698" spc="85" dirty="0">
                <a:solidFill>
                  <a:srgbClr val="444444"/>
                </a:solidFill>
                <a:latin typeface="Calibri"/>
                <a:cs typeface="Calibri"/>
              </a:rPr>
              <a:t>на</a:t>
            </a:r>
            <a:r>
              <a:rPr sz="1698" spc="-27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98" spc="61" dirty="0">
                <a:solidFill>
                  <a:srgbClr val="333333"/>
                </a:solidFill>
                <a:latin typeface="Calibri"/>
                <a:cs typeface="Calibri"/>
              </a:rPr>
              <a:t>геймификацию</a:t>
            </a:r>
            <a:r>
              <a:rPr sz="1698" spc="14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98" spc="61" dirty="0">
                <a:solidFill>
                  <a:srgbClr val="333333"/>
                </a:solidFill>
                <a:latin typeface="Calibri"/>
                <a:cs typeface="Calibri"/>
              </a:rPr>
              <a:t>интерфейсов</a:t>
            </a:r>
            <a:endParaRPr sz="169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713" y="412199"/>
            <a:ext cx="5383203" cy="537494"/>
          </a:xfrm>
          <a:prstGeom prst="rect">
            <a:avLst/>
          </a:prstGeom>
        </p:spPr>
        <p:txBody>
          <a:bodyPr vert="horz" wrap="square" lIns="0" tIns="227496" rIns="0" bIns="0" rtlCol="0" anchor="ctr">
            <a:spAutoFit/>
          </a:bodyPr>
          <a:lstStyle/>
          <a:p>
            <a:pPr marL="18483">
              <a:lnSpc>
                <a:spcPct val="100000"/>
              </a:lnSpc>
              <a:spcBef>
                <a:spcPts val="76"/>
              </a:spcBef>
            </a:pPr>
            <a:r>
              <a:rPr sz="2000" spc="243" dirty="0">
                <a:solidFill>
                  <a:srgbClr val="EF1C2A"/>
                </a:solidFill>
                <a:latin typeface="Calibri"/>
                <a:cs typeface="Calibri"/>
              </a:rPr>
              <a:t>SWOT</a:t>
            </a:r>
            <a:r>
              <a:rPr sz="2000" spc="188" dirty="0">
                <a:solidFill>
                  <a:srgbClr val="EF1C2A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41F1D"/>
                </a:solidFill>
                <a:latin typeface="Calibri"/>
                <a:cs typeface="Calibri"/>
              </a:rPr>
              <a:t>+</a:t>
            </a:r>
            <a:r>
              <a:rPr sz="2000" spc="139" dirty="0">
                <a:solidFill>
                  <a:srgbClr val="E41F1D"/>
                </a:solidFill>
                <a:latin typeface="Calibri"/>
                <a:cs typeface="Calibri"/>
              </a:rPr>
              <a:t> </a:t>
            </a:r>
            <a:r>
              <a:rPr sz="2000" spc="243" dirty="0">
                <a:solidFill>
                  <a:srgbClr val="E6282D"/>
                </a:solidFill>
                <a:latin typeface="Calibri"/>
                <a:cs typeface="Calibri"/>
              </a:rPr>
              <a:t>СТРАТЕГИЯ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3906" y="2176545"/>
            <a:ext cx="4471370" cy="1202466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183" spc="100" dirty="0">
                <a:solidFill>
                  <a:srgbClr val="ED1C26"/>
                </a:solidFill>
                <a:latin typeface="Calibri"/>
                <a:cs typeface="Calibri"/>
              </a:rPr>
              <a:t>Сильные</a:t>
            </a:r>
            <a:r>
              <a:rPr sz="2183" spc="118" dirty="0">
                <a:solidFill>
                  <a:srgbClr val="ED1C26"/>
                </a:solidFill>
                <a:latin typeface="Calibri"/>
                <a:cs typeface="Calibri"/>
              </a:rPr>
              <a:t> </a:t>
            </a:r>
            <a:r>
              <a:rPr sz="2183" spc="100" dirty="0">
                <a:solidFill>
                  <a:srgbClr val="D11F21"/>
                </a:solidFill>
                <a:latin typeface="Calibri"/>
                <a:cs typeface="Calibri"/>
              </a:rPr>
              <a:t>стороны</a:t>
            </a:r>
            <a:endParaRPr sz="2183">
              <a:latin typeface="Calibri"/>
              <a:cs typeface="Calibri"/>
            </a:endParaRPr>
          </a:p>
          <a:p>
            <a:pPr marL="10782" marR="3081" indent="4621">
              <a:lnSpc>
                <a:spcPct val="115300"/>
              </a:lnSpc>
              <a:spcBef>
                <a:spcPts val="1871"/>
              </a:spcBef>
            </a:pPr>
            <a:r>
              <a:rPr sz="1789" spc="33" dirty="0">
                <a:solidFill>
                  <a:srgbClr val="383838"/>
                </a:solidFill>
                <a:latin typeface="Calibri"/>
                <a:cs typeface="Calibri"/>
              </a:rPr>
              <a:t>Локальная</a:t>
            </a:r>
            <a:r>
              <a:rPr sz="1789" spc="69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789" spc="49" dirty="0">
                <a:solidFill>
                  <a:srgbClr val="3A3A3A"/>
                </a:solidFill>
                <a:latin typeface="Calibri"/>
                <a:cs typeface="Calibri"/>
              </a:rPr>
              <a:t>БД,</a:t>
            </a:r>
            <a:r>
              <a:rPr sz="1789" spc="-18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A3A3A"/>
                </a:solidFill>
                <a:latin typeface="Calibri"/>
                <a:cs typeface="Calibri"/>
              </a:rPr>
              <a:t>мгновенная</a:t>
            </a:r>
            <a:r>
              <a:rPr sz="1789" spc="11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B3B3B"/>
                </a:solidFill>
                <a:latin typeface="Calibri"/>
                <a:cs typeface="Calibri"/>
              </a:rPr>
              <a:t>генерация, </a:t>
            </a:r>
            <a:r>
              <a:rPr sz="1789" spc="45" dirty="0">
                <a:solidFill>
                  <a:srgbClr val="383838"/>
                </a:solidFill>
                <a:latin typeface="Calibri"/>
                <a:cs typeface="Calibri"/>
              </a:rPr>
              <a:t>отсутствие</a:t>
            </a:r>
            <a:r>
              <a:rPr sz="1789" spc="82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63636"/>
                </a:solidFill>
                <a:latin typeface="Calibri"/>
                <a:cs typeface="Calibri"/>
              </a:rPr>
              <a:t>рекламы,</a:t>
            </a:r>
            <a:r>
              <a:rPr sz="1789" spc="12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789" spc="39" dirty="0">
                <a:solidFill>
                  <a:srgbClr val="363636"/>
                </a:solidFill>
                <a:latin typeface="Calibri"/>
                <a:cs typeface="Calibri"/>
              </a:rPr>
              <a:t>кастомная</a:t>
            </a:r>
            <a:r>
              <a:rPr sz="1789" spc="79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789" spc="36" dirty="0">
                <a:solidFill>
                  <a:srgbClr val="383838"/>
                </a:solidFill>
                <a:latin typeface="Calibri"/>
                <a:cs typeface="Calibri"/>
              </a:rPr>
              <a:t>стилистика.</a:t>
            </a:r>
            <a:endParaRPr sz="1789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2344" y="2166624"/>
            <a:ext cx="934937" cy="355849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2244" spc="69" dirty="0">
                <a:solidFill>
                  <a:srgbClr val="E21A1F"/>
                </a:solidFill>
                <a:latin typeface="Calibri"/>
                <a:cs typeface="Calibri"/>
              </a:rPr>
              <a:t>Угрозы</a:t>
            </a:r>
            <a:endParaRPr sz="2244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7001" y="2747608"/>
            <a:ext cx="4437099" cy="938733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indent="2310">
              <a:lnSpc>
                <a:spcPct val="115300"/>
              </a:lnSpc>
              <a:spcBef>
                <a:spcPts val="58"/>
              </a:spcBef>
            </a:pPr>
            <a:r>
              <a:rPr sz="1789" dirty="0">
                <a:solidFill>
                  <a:srgbClr val="3A3A3A"/>
                </a:solidFill>
                <a:latin typeface="Calibri"/>
                <a:cs typeface="Calibri"/>
              </a:rPr>
              <a:t>Конкуренция</a:t>
            </a:r>
            <a:r>
              <a:rPr sz="1789" spc="124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789" spc="58" dirty="0">
                <a:solidFill>
                  <a:srgbClr val="3D3D3D"/>
                </a:solidFill>
                <a:latin typeface="Calibri"/>
                <a:cs typeface="Calibri"/>
              </a:rPr>
              <a:t>со</a:t>
            </a:r>
            <a:r>
              <a:rPr sz="1789" spc="2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789" spc="36" dirty="0">
                <a:solidFill>
                  <a:srgbClr val="3D3D3D"/>
                </a:solidFill>
                <a:latin typeface="Calibri"/>
                <a:cs typeface="Calibri"/>
              </a:rPr>
              <a:t>стороны</a:t>
            </a:r>
            <a:r>
              <a:rPr sz="1789" spc="7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A3A3A"/>
                </a:solidFill>
                <a:latin typeface="Calibri"/>
                <a:cs typeface="Calibri"/>
              </a:rPr>
              <a:t>крупных</a:t>
            </a:r>
            <a:r>
              <a:rPr sz="1789" spc="4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789" spc="-12" dirty="0">
                <a:solidFill>
                  <a:srgbClr val="3D3D3D"/>
                </a:solidFill>
                <a:latin typeface="Calibri"/>
                <a:cs typeface="Calibri"/>
              </a:rPr>
              <a:t>веб- </a:t>
            </a:r>
            <a:r>
              <a:rPr sz="1789" dirty="0">
                <a:solidFill>
                  <a:srgbClr val="3A3A3A"/>
                </a:solidFill>
                <a:latin typeface="Calibri"/>
                <a:cs typeface="Calibri"/>
              </a:rPr>
              <a:t>порталов,</a:t>
            </a:r>
            <a:r>
              <a:rPr sz="1789" spc="106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789" spc="49" dirty="0">
                <a:solidFill>
                  <a:srgbClr val="3B3B3B"/>
                </a:solidFill>
                <a:latin typeface="Calibri"/>
                <a:cs typeface="Calibri"/>
              </a:rPr>
              <a:t>сложность</a:t>
            </a:r>
            <a:r>
              <a:rPr sz="1789" spc="224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83838"/>
                </a:solidFill>
                <a:latin typeface="Calibri"/>
                <a:cs typeface="Calibri"/>
              </a:rPr>
              <a:t>привлечения</a:t>
            </a:r>
            <a:r>
              <a:rPr sz="1789" spc="18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33333"/>
                </a:solidFill>
                <a:latin typeface="Calibri"/>
                <a:cs typeface="Calibri"/>
              </a:rPr>
              <a:t>широкой </a:t>
            </a:r>
            <a:r>
              <a:rPr sz="1789" spc="-6" dirty="0">
                <a:solidFill>
                  <a:srgbClr val="363636"/>
                </a:solidFill>
                <a:latin typeface="Calibri"/>
                <a:cs typeface="Calibri"/>
              </a:rPr>
              <a:t>аудитории.</a:t>
            </a:r>
            <a:endParaRPr sz="1789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713" y="412198"/>
            <a:ext cx="5383203" cy="537494"/>
          </a:xfrm>
          <a:prstGeom prst="rect">
            <a:avLst/>
          </a:prstGeom>
        </p:spPr>
        <p:txBody>
          <a:bodyPr vert="horz" wrap="square" lIns="0" tIns="227496" rIns="0" bIns="0" rtlCol="0" anchor="ctr">
            <a:spAutoFit/>
          </a:bodyPr>
          <a:lstStyle/>
          <a:p>
            <a:pPr marL="11167">
              <a:lnSpc>
                <a:spcPct val="100000"/>
              </a:lnSpc>
              <a:spcBef>
                <a:spcPts val="76"/>
              </a:spcBef>
            </a:pPr>
            <a:r>
              <a:rPr sz="2000" spc="-30" dirty="0">
                <a:solidFill>
                  <a:srgbClr val="E92126"/>
                </a:solidFill>
              </a:rPr>
              <a:t>ЭКОНОМИКА:</a:t>
            </a:r>
            <a:r>
              <a:rPr sz="2000" spc="-212" dirty="0">
                <a:solidFill>
                  <a:srgbClr val="E92126"/>
                </a:solidFill>
              </a:rPr>
              <a:t> </a:t>
            </a:r>
            <a:r>
              <a:rPr sz="2000" spc="-33" dirty="0">
                <a:solidFill>
                  <a:srgbClr val="E91A26"/>
                </a:solidFill>
              </a:rPr>
              <a:t>МОНЕТИЗАЦИЯ</a:t>
            </a:r>
            <a:r>
              <a:rPr sz="2000" spc="-176" dirty="0">
                <a:solidFill>
                  <a:srgbClr val="E91A26"/>
                </a:solidFill>
              </a:rPr>
              <a:t> </a:t>
            </a:r>
            <a:r>
              <a:rPr sz="2000" spc="-652" dirty="0">
                <a:solidFill>
                  <a:srgbClr val="E81D21"/>
                </a:solidFill>
              </a:rPr>
              <a:t>+</a:t>
            </a:r>
            <a:r>
              <a:rPr sz="2000" spc="-246" dirty="0">
                <a:solidFill>
                  <a:srgbClr val="E81D21"/>
                </a:solidFill>
              </a:rPr>
              <a:t> </a:t>
            </a:r>
            <a:r>
              <a:rPr sz="2000" spc="-6" dirty="0">
                <a:solidFill>
                  <a:srgbClr val="E81316"/>
                </a:solidFill>
              </a:rPr>
              <a:t>ЗАТРАТЫ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896888" y="2876584"/>
            <a:ext cx="3152524" cy="1529159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183" spc="146" dirty="0">
                <a:solidFill>
                  <a:srgbClr val="DD2431"/>
                </a:solidFill>
                <a:latin typeface="Calibri"/>
                <a:cs typeface="Calibri"/>
              </a:rPr>
              <a:t>Затраты</a:t>
            </a:r>
            <a:r>
              <a:rPr sz="2183" spc="82" dirty="0">
                <a:solidFill>
                  <a:srgbClr val="DD2431"/>
                </a:solidFill>
                <a:latin typeface="Calibri"/>
                <a:cs typeface="Calibri"/>
              </a:rPr>
              <a:t> </a:t>
            </a:r>
            <a:r>
              <a:rPr sz="2183" spc="103" dirty="0">
                <a:solidFill>
                  <a:srgbClr val="DB1C26"/>
                </a:solidFill>
                <a:latin typeface="Calibri"/>
                <a:cs typeface="Calibri"/>
              </a:rPr>
              <a:t>(OPEX)</a:t>
            </a:r>
            <a:endParaRPr sz="2183" dirty="0">
              <a:latin typeface="Calibri"/>
              <a:cs typeface="Calibri"/>
            </a:endParaRPr>
          </a:p>
          <a:p>
            <a:pPr marL="393150" indent="-216021">
              <a:spcBef>
                <a:spcPts val="2162"/>
              </a:spcBef>
              <a:buClr>
                <a:srgbClr val="444444"/>
              </a:buClr>
              <a:buChar char="•"/>
              <a:tabLst>
                <a:tab pos="393150" algn="l"/>
              </a:tabLst>
            </a:pPr>
            <a:r>
              <a:rPr sz="1789" spc="45" dirty="0">
                <a:solidFill>
                  <a:srgbClr val="333333"/>
                </a:solidFill>
                <a:latin typeface="Calibri"/>
                <a:cs typeface="Calibri"/>
              </a:rPr>
              <a:t>Хостинг</a:t>
            </a:r>
            <a:r>
              <a:rPr sz="1789" spc="6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789" spc="91" dirty="0">
                <a:solidFill>
                  <a:srgbClr val="363636"/>
                </a:solidFill>
                <a:latin typeface="Calibri"/>
                <a:cs typeface="Calibri"/>
              </a:rPr>
              <a:t>БД</a:t>
            </a:r>
            <a:r>
              <a:rPr sz="1789" spc="39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D3D3D"/>
                </a:solidFill>
                <a:latin typeface="Calibri"/>
                <a:cs typeface="Calibri"/>
              </a:rPr>
              <a:t>(0</a:t>
            </a:r>
            <a:r>
              <a:rPr sz="1789" spc="-3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789" spc="-12" dirty="0">
                <a:solidFill>
                  <a:srgbClr val="343434"/>
                </a:solidFill>
                <a:latin typeface="Calibri"/>
                <a:cs typeface="Calibri"/>
              </a:rPr>
              <a:t>руб)</a:t>
            </a:r>
            <a:endParaRPr sz="1789" dirty="0">
              <a:latin typeface="Calibri"/>
              <a:cs typeface="Calibri"/>
            </a:endParaRPr>
          </a:p>
          <a:p>
            <a:pPr marL="384294" indent="-207164">
              <a:spcBef>
                <a:spcPts val="327"/>
              </a:spcBef>
              <a:buClr>
                <a:srgbClr val="494949"/>
              </a:buClr>
              <a:buChar char="•"/>
              <a:tabLst>
                <a:tab pos="384294" algn="l"/>
              </a:tabLst>
            </a:pPr>
            <a:r>
              <a:rPr sz="1789" spc="33" dirty="0">
                <a:solidFill>
                  <a:srgbClr val="3F3F3F"/>
                </a:solidFill>
                <a:latin typeface="Calibri"/>
                <a:cs typeface="Calibri"/>
              </a:rPr>
              <a:t>Разработка</a:t>
            </a:r>
            <a:r>
              <a:rPr sz="1789" spc="136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A3A3A"/>
                </a:solidFill>
                <a:latin typeface="Calibri"/>
                <a:cs typeface="Calibri"/>
              </a:rPr>
              <a:t>(личный</a:t>
            </a:r>
            <a:r>
              <a:rPr sz="1789" spc="158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789" spc="-6" dirty="0">
                <a:solidFill>
                  <a:srgbClr val="383838"/>
                </a:solidFill>
                <a:latin typeface="Calibri"/>
                <a:cs typeface="Calibri"/>
              </a:rPr>
              <a:t>вклад)</a:t>
            </a:r>
            <a:endParaRPr sz="1789" dirty="0">
              <a:latin typeface="Calibri"/>
              <a:cs typeface="Calibri"/>
            </a:endParaRPr>
          </a:p>
          <a:p>
            <a:pPr marL="384294" indent="-207164">
              <a:spcBef>
                <a:spcPts val="330"/>
              </a:spcBef>
              <a:buClr>
                <a:srgbClr val="494949"/>
              </a:buClr>
              <a:buChar char="•"/>
              <a:tabLst>
                <a:tab pos="384294" algn="l"/>
              </a:tabLst>
            </a:pPr>
            <a:r>
              <a:rPr lang="ru-RU" sz="1789" dirty="0">
                <a:solidFill>
                  <a:srgbClr val="383838"/>
                </a:solidFill>
                <a:latin typeface="Calibri"/>
                <a:cs typeface="Calibri"/>
              </a:rPr>
              <a:t>Маркетинг</a:t>
            </a:r>
            <a:r>
              <a:rPr lang="ru-RU" sz="1789" spc="146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lang="ru-RU" sz="1789" spc="36" dirty="0">
                <a:solidFill>
                  <a:srgbClr val="2F2F2F"/>
                </a:solidFill>
                <a:latin typeface="Calibri"/>
                <a:cs typeface="Calibri"/>
              </a:rPr>
              <a:t>(соцсети)</a:t>
            </a:r>
            <a:endParaRPr lang="ru-RU" sz="1789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49882" y="2866662"/>
            <a:ext cx="4645230" cy="1457690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2244" spc="52" dirty="0">
                <a:solidFill>
                  <a:srgbClr val="D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Прогноз</a:t>
            </a:r>
            <a:r>
              <a:rPr sz="2244" spc="100" dirty="0">
                <a:solidFill>
                  <a:srgbClr val="D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7" dirty="0">
                <a:solidFill>
                  <a:srgbClr val="DF23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эффективности</a:t>
            </a:r>
            <a:endParaRPr sz="224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ru-RU" sz="1790" b="0" i="0" dirty="0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Экономия времени: </a:t>
            </a:r>
            <a:r>
              <a:rPr lang="ru-RU" sz="1790" b="1" i="0" dirty="0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95%</a:t>
            </a:r>
            <a:endParaRPr lang="en-US" sz="1790" b="1" i="0" dirty="0">
              <a:solidFill>
                <a:srgbClr val="4A4A4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ru-RU" sz="1790" b="0" i="0" dirty="0">
              <a:solidFill>
                <a:srgbClr val="4A4A4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ru-RU" sz="1790" b="0" i="0" dirty="0">
                <a:solidFill>
                  <a:srgbClr val="4A4A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Потенциал роста через внедрение Premium-шаблонов персонажей и экспорт в PDF.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28" y="0"/>
            <a:ext cx="12191144" cy="76243"/>
          </a:xfrm>
          <a:custGeom>
            <a:avLst/>
            <a:gdLst/>
            <a:ahLst/>
            <a:cxnLst/>
            <a:rect l="l" t="t" r="r" b="b"/>
            <a:pathLst>
              <a:path w="20104100" h="125730">
                <a:moveTo>
                  <a:pt x="0" y="0"/>
                </a:moveTo>
                <a:lnTo>
                  <a:pt x="20104101" y="0"/>
                </a:lnTo>
                <a:lnTo>
                  <a:pt x="20104101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21F1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10045" y="2883287"/>
            <a:ext cx="7610801" cy="668371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  <a:tabLst>
                <a:tab pos="4006591" algn="l"/>
              </a:tabLst>
            </a:pPr>
            <a:r>
              <a:rPr sz="4275" spc="725" dirty="0">
                <a:solidFill>
                  <a:srgbClr val="DD2124"/>
                </a:solidFill>
                <a:latin typeface="Calibri"/>
                <a:cs typeface="Calibri"/>
              </a:rPr>
              <a:t>СПАСИБО</a:t>
            </a:r>
            <a:r>
              <a:rPr sz="4275" spc="236" dirty="0">
                <a:solidFill>
                  <a:srgbClr val="DD2124"/>
                </a:solidFill>
                <a:latin typeface="Calibri"/>
                <a:cs typeface="Calibri"/>
              </a:rPr>
              <a:t> </a:t>
            </a:r>
            <a:r>
              <a:rPr sz="4275" spc="631" dirty="0">
                <a:solidFill>
                  <a:srgbClr val="E11F24"/>
                </a:solidFill>
                <a:latin typeface="Calibri"/>
                <a:cs typeface="Calibri"/>
              </a:rPr>
              <a:t>ЗА</a:t>
            </a:r>
            <a:r>
              <a:rPr sz="4275" dirty="0">
                <a:solidFill>
                  <a:srgbClr val="E11F24"/>
                </a:solidFill>
                <a:latin typeface="Calibri"/>
                <a:cs typeface="Calibri"/>
              </a:rPr>
              <a:t>	</a:t>
            </a:r>
            <a:r>
              <a:rPr sz="4275" spc="594" dirty="0">
                <a:solidFill>
                  <a:srgbClr val="E21F1C"/>
                </a:solidFill>
                <a:latin typeface="Calibri"/>
                <a:cs typeface="Calibri"/>
              </a:rPr>
              <a:t>ВНИМАНИЕ!</a:t>
            </a:r>
            <a:endParaRPr sz="4275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0643" y="3752162"/>
            <a:ext cx="3552221" cy="283886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789" spc="42" dirty="0" err="1">
                <a:solidFill>
                  <a:srgbClr val="3B3B3B"/>
                </a:solidFill>
                <a:latin typeface="Calibri"/>
                <a:cs typeface="Calibri"/>
              </a:rPr>
              <a:t>Готов</a:t>
            </a:r>
            <a:r>
              <a:rPr lang="ru-RU" sz="1789" spc="42" dirty="0">
                <a:solidFill>
                  <a:srgbClr val="3B3B3B"/>
                </a:solidFill>
                <a:latin typeface="Calibri"/>
                <a:cs typeface="Calibri"/>
              </a:rPr>
              <a:t>а</a:t>
            </a:r>
            <a:r>
              <a:rPr sz="1789" spc="79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spc="55" dirty="0">
                <a:solidFill>
                  <a:srgbClr val="3B3B3B"/>
                </a:solidFill>
                <a:latin typeface="Calibri"/>
                <a:cs typeface="Calibri"/>
              </a:rPr>
              <a:t>ответить</a:t>
            </a:r>
            <a:r>
              <a:rPr sz="1789" spc="1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789" spc="61" dirty="0">
                <a:solidFill>
                  <a:srgbClr val="424242"/>
                </a:solidFill>
                <a:latin typeface="Calibri"/>
                <a:cs typeface="Calibri"/>
              </a:rPr>
              <a:t>на</a:t>
            </a:r>
            <a:r>
              <a:rPr sz="1789" spc="-8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1789" dirty="0">
                <a:solidFill>
                  <a:srgbClr val="3D3D3D"/>
                </a:solidFill>
                <a:latin typeface="Calibri"/>
                <a:cs typeface="Calibri"/>
              </a:rPr>
              <a:t>ваши</a:t>
            </a:r>
            <a:r>
              <a:rPr sz="1789" spc="9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789" spc="24" dirty="0">
                <a:solidFill>
                  <a:srgbClr val="2D2D2D"/>
                </a:solidFill>
                <a:latin typeface="Calibri"/>
                <a:cs typeface="Calibri"/>
              </a:rPr>
              <a:t>вопросы.</a:t>
            </a:r>
            <a:endParaRPr sz="1789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12751" y="5350528"/>
            <a:ext cx="2757832" cy="271789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698" spc="76" dirty="0">
                <a:solidFill>
                  <a:srgbClr val="343434"/>
                </a:solidFill>
                <a:latin typeface="Calibri"/>
                <a:cs typeface="Calibri"/>
              </a:rPr>
              <a:t>Московский</a:t>
            </a:r>
            <a:r>
              <a:rPr sz="1698" spc="218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698" spc="64" dirty="0">
                <a:solidFill>
                  <a:srgbClr val="383838"/>
                </a:solidFill>
                <a:latin typeface="Calibri"/>
                <a:cs typeface="Calibri"/>
              </a:rPr>
              <a:t>Политех</a:t>
            </a:r>
            <a:r>
              <a:rPr sz="1698" spc="-5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698" spc="-121" dirty="0">
                <a:solidFill>
                  <a:srgbClr val="464646"/>
                </a:solidFill>
                <a:latin typeface="Calibri"/>
                <a:cs typeface="Calibri"/>
              </a:rPr>
              <a:t>|</a:t>
            </a:r>
            <a:r>
              <a:rPr sz="1698" spc="-13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698" spc="-12" dirty="0">
                <a:solidFill>
                  <a:srgbClr val="414141"/>
                </a:solidFill>
                <a:latin typeface="Calibri"/>
                <a:cs typeface="Calibri"/>
              </a:rPr>
              <a:t>2026</a:t>
            </a:r>
            <a:endParaRPr sz="169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3">
  <a:themeElements>
    <a:clrScheme name="Московский Политех красная">
      <a:dk1>
        <a:srgbClr val="E61E46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blon_Moscow_Poly_v3_red (2).potx" id="{74631697-FDEF-4DAA-99BA-40B0CCC3505E}" vid="{F005EE9E-B253-437B-8DCF-D53DEA4C652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Shablon_Moscow_Poly_v3_red (2)</Template>
  <TotalTime>20</TotalTime>
  <Words>394</Words>
  <Application>Microsoft Office PowerPoint</Application>
  <PresentationFormat>Широкоэкранный</PresentationFormat>
  <Paragraphs>61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Gilroy Bold</vt:lpstr>
      <vt:lpstr>Verdana</vt:lpstr>
      <vt:lpstr>Courier New</vt:lpstr>
      <vt:lpstr>Gilroy Medium</vt:lpstr>
      <vt:lpstr>Lucida Sans Unicode</vt:lpstr>
      <vt:lpstr>Calibri</vt:lpstr>
      <vt:lpstr>Тема3</vt:lpstr>
      <vt:lpstr>Презентация PowerPoint</vt:lpstr>
      <vt:lpstr>КЕЙС И АКТУАЛЬНОСТЬ ПPOEKTA</vt:lpstr>
      <vt:lpstr>ПРОБЛЕМЫ ЦЕЛЕВОЙ АУДИТОРИИ</vt:lpstr>
      <vt:lpstr>ЦЕЛЬ И ЗАДАЧИ ПPOEKTA</vt:lpstr>
      <vt:lpstr>ЦЕЛЕВАЯ АУДИТОРИЯ</vt:lpstr>
      <vt:lpstr>ПРОЕКТИРОВАНИЕ И АРХИТЕКТУРА</vt:lpstr>
      <vt:lpstr>ТЕХНОЛОГИЧЕСКИЙ CTEK</vt:lpstr>
      <vt:lpstr>АНАЛИЗ ТРЕНДОВ РЫНКА</vt:lpstr>
      <vt:lpstr>SWOT + СТРАТЕГИЯ</vt:lpstr>
      <vt:lpstr>ЭКОНОМИКА: МОНЕТИЗАЦИЯ + ЗАТРАТЫ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Вера</dc:creator>
  <cp:lastModifiedBy>Анастасия Клишина</cp:lastModifiedBy>
  <cp:revision>8</cp:revision>
  <dcterms:created xsi:type="dcterms:W3CDTF">2025-12-16T17:36:03Z</dcterms:created>
  <dcterms:modified xsi:type="dcterms:W3CDTF">2026-05-20T15:02:26Z</dcterms:modified>
</cp:coreProperties>
</file>